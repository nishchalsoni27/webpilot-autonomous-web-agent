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8-2.svg" ContentType="image/svg+xml"/>
  <Override PartName="/ppt/media/image-8-4.svg" ContentType="image/svg+xml"/>
  <Override PartName="/ppt/media/image-8-6.svg" ContentType="image/svg+xml"/>
  <Override PartName="/ppt/media/image-8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ora"/>
      <p:regular r:id="rId17"/>
    </p:embeddedFont>
    <p:embeddedFont>
      <p:font typeface="Lora Bold"/>
      <p:regular r:id="rId18"/>
    </p:embeddedFont>
    <p:embeddedFont>
      <p:font typeface="Source Sans 3"/>
      <p:regular r:id="rId19"/>
    </p:embeddedFont>
    <p:embeddedFont>
      <p:font typeface="Source Sans 3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38622"/>
            <a:ext cx="1119336" cy="266402"/>
          </a:xfrm>
          <a:prstGeom prst="roundRect">
            <a:avLst>
              <a:gd name="adj" fmla="val 2145"/>
            </a:avLst>
          </a:prstGeom>
          <a:solidFill>
            <a:srgbClr val="F9D9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1174" y="1281113"/>
            <a:ext cx="140642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 S-RANK ARTIFACT ]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561728"/>
            <a:ext cx="5348139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FCEC9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 PILOT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496119" y="2385715"/>
            <a:ext cx="443775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Autonomous Web Agent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496119" y="3041303"/>
            <a:ext cx="8608963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📢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 SYSTEM ]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new S-Rank Quest has been registered.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3472532"/>
            <a:ext cx="8151763" cy="10567"/>
          </a:xfrm>
          <a:prstGeom prst="rect">
            <a:avLst/>
          </a:prstGeom>
          <a:solidFill>
            <a:srgbClr val="D9E1FF">
              <a:alpha val="5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96119" y="367798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2DED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Microsoft Build AI Hackathon 2026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 · 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BAB6A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Nishchal Soni &amp; Kuldeep Parmar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49164"/>
            <a:ext cx="1624905" cy="285452"/>
          </a:xfrm>
          <a:prstGeom prst="roundRect">
            <a:avLst>
              <a:gd name="adj" fmla="val 2002"/>
            </a:avLst>
          </a:prstGeom>
          <a:noFill/>
          <a:ln w="9525">
            <a:solidFill>
              <a:srgbClr val="8061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0699" y="1101179"/>
            <a:ext cx="189294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06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HACKATHON QUEST REGISTRY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9132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CEC9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Enter the Arena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394022" y="2046908"/>
            <a:ext cx="4107135" cy="2047429"/>
          </a:xfrm>
          <a:prstGeom prst="roundRect">
            <a:avLst>
              <a:gd name="adj" fmla="val 279"/>
            </a:avLst>
          </a:prstGeom>
          <a:solidFill>
            <a:srgbClr val="15161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5781" y="2188666"/>
            <a:ext cx="22706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⚔️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Build AI Live Arena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5781" y="2569592"/>
            <a:ext cx="3823618" cy="1138461"/>
          </a:xfrm>
          <a:prstGeom prst="roundRect">
            <a:avLst>
              <a:gd name="adj" fmla="val 8032"/>
            </a:avLst>
          </a:prstGeom>
          <a:solidFill>
            <a:srgbClr val="151617"/>
          </a:solidFill>
          <a:ln w="19050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16731" y="2569592"/>
            <a:ext cx="76200" cy="1138461"/>
          </a:xfrm>
          <a:prstGeom prst="roundRect">
            <a:avLst>
              <a:gd name="adj" fmla="val 7500"/>
            </a:avLst>
          </a:prstGeom>
          <a:solidFill>
            <a:srgbClr val="8061F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53740" y="2730401"/>
            <a:ext cx="2637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10,200+ Competitors Registered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3740" y="3093616"/>
            <a:ext cx="34448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Competing against top global builders in an intensive online system deployment phase — no warm-up rounds.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49701" y="2188666"/>
            <a:ext cx="28676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Core Theme: Agentic Web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49701" y="2569592"/>
            <a:ext cx="3902943" cy="1365275"/>
          </a:xfrm>
          <a:prstGeom prst="roundRect">
            <a:avLst>
              <a:gd name="adj" fmla="val 6698"/>
            </a:avLst>
          </a:prstGeom>
          <a:solidFill>
            <a:srgbClr val="0C0A33"/>
          </a:solidFill>
          <a:ln w="19050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730651" y="2569592"/>
            <a:ext cx="76200" cy="1365275"/>
          </a:xfrm>
          <a:prstGeom prst="roundRect">
            <a:avLst>
              <a:gd name="adj" fmla="val 7500"/>
            </a:avLst>
          </a:prstGeom>
          <a:solidFill>
            <a:srgbClr val="8061F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67660" y="2730401"/>
            <a:ext cx="26977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100% Fully Autonomous Systems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67660" y="3093616"/>
            <a:ext cx="352417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Tasked with building agents that navigate websites, plan dynamically, recover from errors, and clear complete workflows — zero human intervention.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04726"/>
            <a:ext cx="854869" cy="266402"/>
          </a:xfrm>
          <a:prstGeom prst="roundRect">
            <a:avLst>
              <a:gd name="adj" fmla="val 2145"/>
            </a:avLst>
          </a:prstGeom>
          <a:solidFill>
            <a:srgbClr val="0F004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1174" y="947217"/>
            <a:ext cx="114195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27832"/>
            <a:ext cx="510681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CEC9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E-Rank vs S-Rank Execution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02517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✗ E-Rank AI Chatbot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96119" y="2406104"/>
            <a:ext cx="1880592" cy="765721"/>
          </a:xfrm>
          <a:prstGeom prst="roundRect">
            <a:avLst>
              <a:gd name="adj" fmla="val 746"/>
            </a:avLst>
          </a:prstGeom>
          <a:solidFill>
            <a:srgbClr val="3A3A3A"/>
          </a:solidFill>
          <a:ln w="14288">
            <a:solidFill>
              <a:srgbClr val="53535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52165" y="2562151"/>
            <a:ext cx="15685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 only answer static QA prompts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8470" y="2406104"/>
            <a:ext cx="1880592" cy="765721"/>
          </a:xfrm>
          <a:prstGeom prst="roundRect">
            <a:avLst>
              <a:gd name="adj" fmla="val 746"/>
            </a:avLst>
          </a:prstGeom>
          <a:solidFill>
            <a:srgbClr val="3A3A3A"/>
          </a:solidFill>
          <a:ln w="14288">
            <a:solidFill>
              <a:srgbClr val="53535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674516" y="2562151"/>
            <a:ext cx="15685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Cannot navigate live visual web components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313584"/>
            <a:ext cx="1880592" cy="765721"/>
          </a:xfrm>
          <a:prstGeom prst="roundRect">
            <a:avLst>
              <a:gd name="adj" fmla="val 746"/>
            </a:avLst>
          </a:prstGeom>
          <a:solidFill>
            <a:srgbClr val="3A3A3A"/>
          </a:solidFill>
          <a:ln w="14288">
            <a:solidFill>
              <a:srgbClr val="53535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2165" y="3469630"/>
            <a:ext cx="15685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Fails completely at system form-fills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8470" y="3313584"/>
            <a:ext cx="1880592" cy="765721"/>
          </a:xfrm>
          <a:prstGeom prst="roundRect">
            <a:avLst>
              <a:gd name="adj" fmla="val 746"/>
            </a:avLst>
          </a:prstGeom>
          <a:solidFill>
            <a:srgbClr val="3A3A3A"/>
          </a:solidFill>
          <a:ln w="14288">
            <a:solidFill>
              <a:srgbClr val="53535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74516" y="3469630"/>
            <a:ext cx="15685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Requires heavy external supervision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49701" y="202517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S-Rank WebPilot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749701" y="2406104"/>
            <a:ext cx="1880592" cy="765721"/>
          </a:xfrm>
          <a:prstGeom prst="roundRect">
            <a:avLst>
              <a:gd name="adj" fmla="val 746"/>
            </a:avLst>
          </a:prstGeom>
          <a:solidFill>
            <a:srgbClr val="2B2952"/>
          </a:solidFill>
          <a:ln w="14288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05747" y="2562151"/>
            <a:ext cx="15685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Navigates live production web spaces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72052" y="2406104"/>
            <a:ext cx="1880592" cy="765721"/>
          </a:xfrm>
          <a:prstGeom prst="roundRect">
            <a:avLst>
              <a:gd name="adj" fmla="val 746"/>
            </a:avLst>
          </a:prstGeom>
          <a:solidFill>
            <a:srgbClr val="2B2952"/>
          </a:solidFill>
          <a:ln w="14288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928098" y="2562151"/>
            <a:ext cx="15685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Orchestrates deep multi-step missions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49701" y="3313584"/>
            <a:ext cx="1880592" cy="765721"/>
          </a:xfrm>
          <a:prstGeom prst="roundRect">
            <a:avLst>
              <a:gd name="adj" fmla="val 746"/>
            </a:avLst>
          </a:prstGeom>
          <a:solidFill>
            <a:srgbClr val="2B2952"/>
          </a:solidFill>
          <a:ln w="14288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905747" y="3469630"/>
            <a:ext cx="15685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Self-recovers and adapts on element shifts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72052" y="3313584"/>
            <a:ext cx="1880592" cy="765721"/>
          </a:xfrm>
          <a:prstGeom prst="roundRect">
            <a:avLst>
              <a:gd name="adj" fmla="val 746"/>
            </a:avLst>
          </a:prstGeom>
          <a:solidFill>
            <a:srgbClr val="2B2952"/>
          </a:solidFill>
          <a:ln w="14288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928098" y="3469630"/>
            <a:ext cx="15685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Zero human hand-holding needed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066" y="375865"/>
            <a:ext cx="889620" cy="202629"/>
          </a:xfrm>
          <a:prstGeom prst="roundRect">
            <a:avLst>
              <a:gd name="adj" fmla="val 2820"/>
            </a:avLst>
          </a:prstGeom>
          <a:solidFill>
            <a:srgbClr val="0F004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7122" y="410394"/>
            <a:ext cx="1208708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 STATUS WINDOW ]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98066" y="615925"/>
            <a:ext cx="414300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CEC9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WebPilot — Runtime Matrix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98066" y="1013296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Agent Profile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8066" y="1333574"/>
            <a:ext cx="7947794" cy="711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NAME:</a:t>
            </a:r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WebPilot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CLASS:</a:t>
            </a:r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Autonomous Web Agent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RANK: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2DED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8066" y="2178918"/>
            <a:ext cx="7947794" cy="8632"/>
          </a:xfrm>
          <a:prstGeom prst="rect">
            <a:avLst/>
          </a:prstGeom>
          <a:solidFill>
            <a:srgbClr val="D9E1FF">
              <a:alpha val="5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8066" y="2321496"/>
            <a:ext cx="794779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MISSION BRIEFING: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Fulfills high-level web objectives seamlessly — no brittle API dependency trees, no custom scrapers. Give WebPilot a text statement, and it plans browser sequences dynamically.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8066" y="2795811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Attribute Metrics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066" y="3173611"/>
            <a:ext cx="3542184" cy="143917"/>
          </a:xfrm>
          <a:prstGeom prst="roundRect">
            <a:avLst>
              <a:gd name="adj" fmla="val 3971"/>
            </a:avLst>
          </a:prstGeom>
          <a:solidFill>
            <a:srgbClr val="2B2952"/>
          </a:solidFill>
          <a:ln w="14288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8066" y="3173611"/>
            <a:ext cx="3365004" cy="143917"/>
          </a:xfrm>
          <a:prstGeom prst="roundRect">
            <a:avLst>
              <a:gd name="adj" fmla="val 3971"/>
            </a:avLst>
          </a:prstGeom>
          <a:solidFill>
            <a:srgbClr val="8061F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226570" y="3173537"/>
            <a:ext cx="286866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8066" y="3445222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Planning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066" y="3681264"/>
            <a:ext cx="391537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Dynamic task decomposition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30415" y="3173611"/>
            <a:ext cx="3531319" cy="143917"/>
          </a:xfrm>
          <a:prstGeom prst="roundRect">
            <a:avLst>
              <a:gd name="adj" fmla="val 3971"/>
            </a:avLst>
          </a:prstGeom>
          <a:solidFill>
            <a:srgbClr val="2B2952"/>
          </a:solidFill>
          <a:ln w="14288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630415" y="3173611"/>
            <a:ext cx="3178150" cy="143917"/>
          </a:xfrm>
          <a:prstGeom prst="roundRect">
            <a:avLst>
              <a:gd name="adj" fmla="val 3971"/>
            </a:avLst>
          </a:prstGeom>
          <a:solidFill>
            <a:srgbClr val="8061FF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48055" y="3173537"/>
            <a:ext cx="29780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30415" y="3445222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30415" y="3681264"/>
            <a:ext cx="391544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Native DOM interaction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8066" y="4092922"/>
            <a:ext cx="3544491" cy="143917"/>
          </a:xfrm>
          <a:prstGeom prst="roundRect">
            <a:avLst>
              <a:gd name="adj" fmla="val 3971"/>
            </a:avLst>
          </a:prstGeom>
          <a:solidFill>
            <a:srgbClr val="2B2952"/>
          </a:solidFill>
          <a:ln w="14288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98066" y="4092922"/>
            <a:ext cx="3012802" cy="143917"/>
          </a:xfrm>
          <a:prstGeom prst="roundRect">
            <a:avLst>
              <a:gd name="adj" fmla="val 3971"/>
            </a:avLst>
          </a:prstGeom>
          <a:solidFill>
            <a:srgbClr val="8061F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228877" y="4092848"/>
            <a:ext cx="284559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85%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066" y="4364534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Resilience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066" y="4600575"/>
            <a:ext cx="391537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Self-recovery on element shifts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30415" y="4092922"/>
            <a:ext cx="3539803" cy="143917"/>
          </a:xfrm>
          <a:prstGeom prst="roundRect">
            <a:avLst>
              <a:gd name="adj" fmla="val 3971"/>
            </a:avLst>
          </a:prstGeom>
          <a:solidFill>
            <a:srgbClr val="2B2952"/>
          </a:solidFill>
          <a:ln w="14288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630415" y="4092922"/>
            <a:ext cx="3468960" cy="143917"/>
          </a:xfrm>
          <a:prstGeom prst="roundRect">
            <a:avLst>
              <a:gd name="adj" fmla="val 3971"/>
            </a:avLst>
          </a:prstGeom>
          <a:solidFill>
            <a:srgbClr val="8061F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56538" y="4092848"/>
            <a:ext cx="289322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98%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30415" y="4364534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Autonomy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30415" y="4600575"/>
            <a:ext cx="391544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Zero human supervision required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9452" y="290215"/>
            <a:ext cx="1373014" cy="182612"/>
          </a:xfrm>
          <a:prstGeom prst="roundRect">
            <a:avLst>
              <a:gd name="adj" fmla="val 3130"/>
            </a:avLst>
          </a:prstGeom>
          <a:noFill/>
          <a:ln w="9525">
            <a:solidFill>
              <a:srgbClr val="8061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77392" y="328910"/>
            <a:ext cx="1694334" cy="105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806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SHADOW SYSTEM ARCHITECTURE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209452" y="499616"/>
            <a:ext cx="389193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CEC9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Four-Stage Execution Pipeline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1082" y="904577"/>
            <a:ext cx="3741762" cy="3741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5914" y="1557396"/>
            <a:ext cx="1434246" cy="18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Prompt Input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064514" y="1800333"/>
            <a:ext cx="1205646" cy="383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defines the high-level task in plain language.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880234" y="1399046"/>
            <a:ext cx="1205646" cy="37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LLM Core Engine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880234" y="1831120"/>
            <a:ext cx="1205646" cy="510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Dynamically plans and formats browser locator execution chains.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836018" y="3373011"/>
            <a:ext cx="1434246" cy="18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Playwright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064618" y="3615947"/>
            <a:ext cx="1205646" cy="383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Interacts natively with real DOM elements in Chromium.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51634" y="3373011"/>
            <a:ext cx="1434246" cy="18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Extraction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880234" y="3615947"/>
            <a:ext cx="1205646" cy="383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Extracts, filters, and formats clean structured payloads.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209452" y="4721647"/>
            <a:ext cx="718222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From natural language to structured output — WebPilot's shadow architecture eliminates manual orchestration at every layer of the stack.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610" y="386283"/>
            <a:ext cx="1162496" cy="233660"/>
          </a:xfrm>
          <a:prstGeom prst="roundRect">
            <a:avLst>
              <a:gd name="adj" fmla="val 2446"/>
            </a:avLst>
          </a:prstGeom>
          <a:solidFill>
            <a:srgbClr val="0F004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26628" y="424755"/>
            <a:ext cx="1465659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 DEPLOYMENT CODES 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49610" y="666452"/>
            <a:ext cx="36690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CEC9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Initialize the System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49610" y="1358875"/>
            <a:ext cx="27838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Terminal — Environment Setup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9610" y="1690539"/>
            <a:ext cx="4393555" cy="648742"/>
          </a:xfrm>
          <a:prstGeom prst="roundRect">
            <a:avLst>
              <a:gd name="adj" fmla="val 881"/>
            </a:avLst>
          </a:prstGeom>
          <a:solidFill>
            <a:srgbClr val="191740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210" y="1690539"/>
            <a:ext cx="4406354" cy="648742"/>
          </a:xfrm>
          <a:prstGeom prst="roundRect">
            <a:avLst>
              <a:gd name="adj" fmla="val 2971"/>
            </a:avLst>
          </a:prstGeom>
          <a:solidFill>
            <a:srgbClr val="19174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03796" y="1818977"/>
            <a:ext cx="408518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playwright python-dotenv browser-use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 install chromium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9610" y="2470249"/>
            <a:ext cx="292075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Runtime — Agent Bootstrap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9610" y="2801913"/>
            <a:ext cx="4393555" cy="1824335"/>
          </a:xfrm>
          <a:prstGeom prst="roundRect">
            <a:avLst>
              <a:gd name="adj" fmla="val 313"/>
            </a:avLst>
          </a:prstGeom>
          <a:solidFill>
            <a:srgbClr val="191740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43210" y="2801913"/>
            <a:ext cx="4406354" cy="1824335"/>
          </a:xfrm>
          <a:prstGeom prst="roundRect">
            <a:avLst>
              <a:gd name="adj" fmla="val 1056"/>
            </a:avLst>
          </a:prstGeom>
          <a:solidFill>
            <a:srgbClr val="19174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03796" y="2930351"/>
            <a:ext cx="4085183" cy="1567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browser_use import Agent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task="Find the top 3 Python AI libraries on PyPI",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llm=llm,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browser_context=browser_context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7B72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await agent.run()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61359" y="1358875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Runtime Stack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161359" y="1690539"/>
            <a:ext cx="1710630" cy="1190327"/>
          </a:xfrm>
          <a:prstGeom prst="roundRect">
            <a:avLst>
              <a:gd name="adj" fmla="val 480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04086" y="1833265"/>
            <a:ext cx="142517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OpenAI GPT-4o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04086" y="2150343"/>
            <a:ext cx="1425178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LLM brain for task planning &amp; decision chains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88373" y="1690539"/>
            <a:ext cx="1710705" cy="1190327"/>
          </a:xfrm>
          <a:prstGeom prst="roundRect">
            <a:avLst>
              <a:gd name="adj" fmla="val 480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131100" y="1833265"/>
            <a:ext cx="142525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Browser-Use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31100" y="2150343"/>
            <a:ext cx="142525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High-level agentic browser abstraction layer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61359" y="2997250"/>
            <a:ext cx="3537719" cy="798463"/>
          </a:xfrm>
          <a:prstGeom prst="roundRect">
            <a:avLst>
              <a:gd name="adj" fmla="val 716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04086" y="313997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Playwright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04086" y="3457054"/>
            <a:ext cx="325226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Native Chromium DOM interaction engine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939254"/>
            <a:ext cx="1146646" cy="266402"/>
          </a:xfrm>
          <a:prstGeom prst="roundRect">
            <a:avLst>
              <a:gd name="adj" fmla="val 2145"/>
            </a:avLst>
          </a:prstGeom>
          <a:solidFill>
            <a:srgbClr val="0F004D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81174" y="981745"/>
            <a:ext cx="143373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 LIVE DEMO QUEST ]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26236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CEC9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WebPilot in Action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496119" y="1917948"/>
            <a:ext cx="2290465" cy="1299046"/>
          </a:xfrm>
          <a:prstGeom prst="roundRect">
            <a:avLst>
              <a:gd name="adj" fmla="val 440"/>
            </a:avLst>
          </a:prstGeom>
          <a:solidFill>
            <a:srgbClr val="2B2952"/>
          </a:solidFill>
          <a:ln w="14288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52165" y="207399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Research Mission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2165" y="2380506"/>
            <a:ext cx="197837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Scrape &amp; compare product pricing across live e-commerce sites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8342" y="1917948"/>
            <a:ext cx="2290539" cy="1299046"/>
          </a:xfrm>
          <a:prstGeom prst="roundRect">
            <a:avLst>
              <a:gd name="adj" fmla="val 440"/>
            </a:avLst>
          </a:prstGeom>
          <a:solidFill>
            <a:srgbClr val="2B2952"/>
          </a:solidFill>
          <a:ln w="14288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084388" y="207399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Form Automation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084388" y="2380506"/>
            <a:ext cx="19784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 multi-step registration workflows with dynamic field handling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6119" y="3358753"/>
            <a:ext cx="4722763" cy="845418"/>
          </a:xfrm>
          <a:prstGeom prst="roundRect">
            <a:avLst>
              <a:gd name="adj" fmla="val 676"/>
            </a:avLst>
          </a:prstGeom>
          <a:solidFill>
            <a:srgbClr val="2B2952"/>
          </a:solidFill>
          <a:ln w="14288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52165" y="351479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Data Extraction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2165" y="3821311"/>
            <a:ext cx="44106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Pull structured datasets from complex SPA layouts — no API required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39440"/>
            <a:ext cx="1212577" cy="285452"/>
          </a:xfrm>
          <a:prstGeom prst="roundRect">
            <a:avLst>
              <a:gd name="adj" fmla="val 2002"/>
            </a:avLst>
          </a:prstGeom>
          <a:noFill/>
          <a:ln w="9525">
            <a:solidFill>
              <a:srgbClr val="8061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0699" y="691455"/>
            <a:ext cx="148061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06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ADVANTAGES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81596"/>
            <a:ext cx="466099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CEC9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WebPilot Dominates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37184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168723"/>
            <a:ext cx="17863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Zero API Dependency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475235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Operates on any live website — no custom integrations, no backend access needed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637184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0553" y="2168723"/>
            <a:ext cx="188535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Self-Healing Execution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660553" y="2475235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Adapts to DOM changes, pop-ups, and dynamic content in real time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212381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6119" y="3743920"/>
            <a:ext cx="19453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Natural Language Input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96119" y="4050432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Plain English task statements — no scripting, no XPath, no CSS selectors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212381"/>
            <a:ext cx="354360" cy="3543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60553" y="3743920"/>
            <a:ext cx="209341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Multi-Step Orchestration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660553" y="4050432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Plans, executes, and validates complex workflows end-to-end autonomously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55228"/>
            <a:ext cx="762074" cy="266402"/>
          </a:xfrm>
          <a:prstGeom prst="roundRect">
            <a:avLst>
              <a:gd name="adj" fmla="val 2145"/>
            </a:avLst>
          </a:prstGeom>
          <a:solidFill>
            <a:srgbClr val="0F004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1174" y="797719"/>
            <a:ext cx="104916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 ROADMAP ]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78334"/>
            <a:ext cx="415074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CEC9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Evolution Path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3061097"/>
            <a:ext cx="8151763" cy="19050"/>
          </a:xfrm>
          <a:prstGeom prst="roundRect">
            <a:avLst>
              <a:gd name="adj" fmla="val 30000"/>
            </a:avLst>
          </a:prstGeom>
          <a:solidFill>
            <a:srgbClr val="44426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063725" y="2635821"/>
            <a:ext cx="19050" cy="425276"/>
          </a:xfrm>
          <a:prstGeom prst="roundRect">
            <a:avLst>
              <a:gd name="adj" fmla="val 30000"/>
            </a:avLst>
          </a:prstGeom>
          <a:solidFill>
            <a:srgbClr val="44426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913781" y="2901628"/>
            <a:ext cx="318939" cy="318939"/>
          </a:xfrm>
          <a:prstGeom prst="roundRect">
            <a:avLst>
              <a:gd name="adj" fmla="val 1792"/>
            </a:avLst>
          </a:prstGeom>
          <a:solidFill>
            <a:srgbClr val="2B2952"/>
          </a:solidFill>
          <a:ln w="14288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966950" y="292819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76610" y="1733922"/>
            <a:ext cx="21932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Phase 1 — Build Hackathon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7877" y="2040434"/>
            <a:ext cx="28708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autonomous navigation, form-fills, and extraction live on Build AI Arena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29558" y="3061097"/>
            <a:ext cx="19050" cy="425276"/>
          </a:xfrm>
          <a:prstGeom prst="roundRect">
            <a:avLst>
              <a:gd name="adj" fmla="val 30000"/>
            </a:avLst>
          </a:prstGeom>
          <a:solidFill>
            <a:srgbClr val="44426B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579614" y="2901628"/>
            <a:ext cx="318939" cy="318939"/>
          </a:xfrm>
          <a:prstGeom prst="roundRect">
            <a:avLst>
              <a:gd name="adj" fmla="val 1792"/>
            </a:avLst>
          </a:prstGeom>
          <a:solidFill>
            <a:srgbClr val="2B2952"/>
          </a:solidFill>
          <a:ln w="14288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32783" y="292819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428726" y="3628132"/>
            <a:ext cx="262064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Phase 2 — Multi-Tab Parallelism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303636" y="3934644"/>
            <a:ext cx="28708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Concurrent browser contexts for parallel task execution at scale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5317" y="2635821"/>
            <a:ext cx="19050" cy="425276"/>
          </a:xfrm>
          <a:prstGeom prst="roundRect">
            <a:avLst>
              <a:gd name="adj" fmla="val 30000"/>
            </a:avLst>
          </a:prstGeom>
          <a:solidFill>
            <a:srgbClr val="44426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245373" y="2901628"/>
            <a:ext cx="318939" cy="318939"/>
          </a:xfrm>
          <a:prstGeom prst="roundRect">
            <a:avLst>
              <a:gd name="adj" fmla="val 1792"/>
            </a:avLst>
          </a:prstGeom>
          <a:solidFill>
            <a:srgbClr val="2B2952"/>
          </a:solidFill>
          <a:ln w="14288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98542" y="292819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039195" y="1733922"/>
            <a:ext cx="27312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Phase 3 — Memory &amp; Persistence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969395" y="2040434"/>
            <a:ext cx="28708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Long-term session memory for complex, multi-day workflow missions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61150" y="3061097"/>
            <a:ext cx="19050" cy="425276"/>
          </a:xfrm>
          <a:prstGeom prst="roundRect">
            <a:avLst>
              <a:gd name="adj" fmla="val 30000"/>
            </a:avLst>
          </a:prstGeom>
          <a:solidFill>
            <a:srgbClr val="44426B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911206" y="2901628"/>
            <a:ext cx="318939" cy="318939"/>
          </a:xfrm>
          <a:prstGeom prst="roundRect">
            <a:avLst>
              <a:gd name="adj" fmla="val 1792"/>
            </a:avLst>
          </a:prstGeom>
          <a:solidFill>
            <a:srgbClr val="2B2952"/>
          </a:solidFill>
          <a:ln w="14288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964375" y="292819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788670" y="3628132"/>
            <a:ext cx="25640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Phase 4 — Enterprise API Layer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635228" y="3934644"/>
            <a:ext cx="28708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RESTful wrapper + webhook triggers for production system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0640" y="397371"/>
            <a:ext cx="1116062" cy="255240"/>
          </a:xfrm>
          <a:prstGeom prst="roundRect">
            <a:avLst>
              <a:gd name="adj" fmla="val 2239"/>
            </a:avLst>
          </a:prstGeom>
          <a:solidFill>
            <a:srgbClr val="0F004D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63017" y="438522"/>
            <a:ext cx="1408509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 QUEST COMPLETE ]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80640" y="705817"/>
            <a:ext cx="5195292" cy="59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CEC9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 PILOT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80640" y="1497509"/>
            <a:ext cx="4753719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System Awaits Your Command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480640" y="2555304"/>
            <a:ext cx="521091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F2DED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Microsoft Build AI Hackathon 2026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 · 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BAB6A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Nishchal Soni &amp; Kuldeep Parmar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0640" y="2921273"/>
            <a:ext cx="4753719" cy="1824856"/>
          </a:xfrm>
          <a:prstGeom prst="roundRect">
            <a:avLst>
              <a:gd name="adj" fmla="val 313"/>
            </a:avLst>
          </a:prstGeom>
          <a:solidFill>
            <a:srgbClr val="2B2952"/>
          </a:solidFill>
          <a:ln w="14288">
            <a:solidFill>
              <a:srgbClr val="44426B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94928" y="2935560"/>
            <a:ext cx="2362572" cy="1006301"/>
          </a:xfrm>
          <a:prstGeom prst="roundRect">
            <a:avLst>
              <a:gd name="adj" fmla="val 568"/>
            </a:avLst>
          </a:prstGeom>
          <a:solidFill>
            <a:srgbClr val="2B2952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32222" y="3072854"/>
            <a:ext cx="1716658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📂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GitHub Repo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32222" y="3371924"/>
            <a:ext cx="2087984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source, docs &amp; deployment guide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857500" y="2935560"/>
            <a:ext cx="2362572" cy="1006301"/>
          </a:xfrm>
          <a:prstGeom prst="rect">
            <a:avLst/>
          </a:prstGeom>
          <a:solidFill>
            <a:srgbClr val="2B2952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857500" y="2935560"/>
            <a:ext cx="19050" cy="1006301"/>
          </a:xfrm>
          <a:prstGeom prst="roundRect">
            <a:avLst>
              <a:gd name="adj" fmla="val 30000"/>
            </a:avLst>
          </a:prstGeom>
          <a:solidFill>
            <a:srgbClr val="44426B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994794" y="3072854"/>
            <a:ext cx="1716658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🎥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Live Demo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994794" y="3371924"/>
            <a:ext cx="2087984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autonomous web mission execution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94928" y="3941862"/>
            <a:ext cx="4725144" cy="789980"/>
          </a:xfrm>
          <a:prstGeom prst="rect">
            <a:avLst/>
          </a:prstGeom>
          <a:solidFill>
            <a:srgbClr val="2B2952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94928" y="3941862"/>
            <a:ext cx="4725144" cy="19050"/>
          </a:xfrm>
          <a:prstGeom prst="roundRect">
            <a:avLst>
              <a:gd name="adj" fmla="val 30000"/>
            </a:avLst>
          </a:prstGeom>
          <a:solidFill>
            <a:srgbClr val="44426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32222" y="4079156"/>
            <a:ext cx="1716658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📬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Contact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32222" y="4378226"/>
            <a:ext cx="445055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Ready for questions, collaboration &amp; next-level quests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2026-05-28T06:51:08Z</dcterms:created>
  <dcterms:modified xsi:type="dcterms:W3CDTF">2026-05-28T06:51:08Z</dcterms:modified>
</cp:coreProperties>
</file>