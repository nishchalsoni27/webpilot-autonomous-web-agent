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Lora" panose="020F0502020204030204" pitchFamily="2" charset="0"/>
      <p:regular r:id="rId21"/>
      <p:bold r:id="rId22"/>
      <p:italic r:id="rId23"/>
      <p:boldItalic r:id="rId24"/>
    </p:embeddedFont>
    <p:embeddedFont>
      <p:font typeface="Source Sans 3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6 master">
  <p:cSld name="Slide 16 mast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7 master">
  <p:cSld name="Slide 17 mast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8 master">
  <p:cSld name="Slide 18 mast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>
              <a:alpha val="5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1"/>
          <p:cNvSpPr/>
          <p:nvPr/>
        </p:nvSpPr>
        <p:spPr>
          <a:xfrm>
            <a:off x="496119" y="445666"/>
            <a:ext cx="1119336" cy="266402"/>
          </a:xfrm>
          <a:prstGeom prst="roundRect">
            <a:avLst>
              <a:gd name="adj" fmla="val 2145"/>
            </a:avLst>
          </a:prstGeom>
          <a:solidFill>
            <a:srgbClr val="F9D9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1"/>
          <p:cNvSpPr/>
          <p:nvPr/>
        </p:nvSpPr>
        <p:spPr>
          <a:xfrm>
            <a:off x="581174" y="488156"/>
            <a:ext cx="1406426" cy="18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S-RANK ARTIFACT ]</a:t>
            </a:r>
            <a:endParaRPr sz="850" b="0" i="0" u="none" strike="noStrike" cap="none"/>
          </a:p>
        </p:txBody>
      </p:sp>
      <p:sp>
        <p:nvSpPr>
          <p:cNvPr id="74" name="Google Shape;74;p21"/>
          <p:cNvSpPr/>
          <p:nvPr/>
        </p:nvSpPr>
        <p:spPr>
          <a:xfrm>
            <a:off x="267519" y="768772"/>
            <a:ext cx="8380363" cy="1329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8350"/>
              <a:buFont typeface="Lora"/>
              <a:buNone/>
            </a:pPr>
            <a:r>
              <a:rPr lang="en-US" sz="835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WEB PILOT</a:t>
            </a:r>
            <a:endParaRPr sz="8350" b="0" i="0" u="none" strike="noStrike" cap="none"/>
          </a:p>
        </p:txBody>
      </p:sp>
      <p:sp>
        <p:nvSpPr>
          <p:cNvPr id="75" name="Google Shape;75;p21"/>
          <p:cNvSpPr/>
          <p:nvPr/>
        </p:nvSpPr>
        <p:spPr>
          <a:xfrm>
            <a:off x="2353121" y="2310408"/>
            <a:ext cx="4209157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Lora"/>
              <a:buNone/>
            </a:pPr>
            <a:r>
              <a:rPr lang="en-US" sz="27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Autonomous Web Agent</a:t>
            </a:r>
            <a:endParaRPr sz="2750" b="0" i="0" u="none" strike="noStrike" cap="none"/>
          </a:p>
        </p:txBody>
      </p:sp>
      <p:sp>
        <p:nvSpPr>
          <p:cNvPr id="76" name="Google Shape;76;p21"/>
          <p:cNvSpPr/>
          <p:nvPr/>
        </p:nvSpPr>
        <p:spPr>
          <a:xfrm>
            <a:off x="480120" y="3125465"/>
            <a:ext cx="8167762" cy="23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📢</a:t>
            </a: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100" b="1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SYSTEM ]</a:t>
            </a: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new S-Rank Quest has been registered. The Shadow Monarch's browser awaits activation.</a:t>
            </a:r>
            <a:endParaRPr sz="1100" b="0" i="0" u="none" strike="noStrike" cap="none"/>
          </a:p>
        </p:txBody>
      </p:sp>
      <p:sp>
        <p:nvSpPr>
          <p:cNvPr id="77" name="Google Shape;77;p21"/>
          <p:cNvSpPr/>
          <p:nvPr/>
        </p:nvSpPr>
        <p:spPr>
          <a:xfrm>
            <a:off x="496119" y="2965996"/>
            <a:ext cx="19050" cy="555278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1"/>
          <p:cNvSpPr/>
          <p:nvPr/>
        </p:nvSpPr>
        <p:spPr>
          <a:xfrm>
            <a:off x="496119" y="3716164"/>
            <a:ext cx="8151763" cy="10567"/>
          </a:xfrm>
          <a:prstGeom prst="rect">
            <a:avLst/>
          </a:prstGeom>
          <a:solidFill>
            <a:srgbClr val="D9E1FF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1"/>
          <p:cNvSpPr/>
          <p:nvPr/>
        </p:nvSpPr>
        <p:spPr>
          <a:xfrm>
            <a:off x="267519" y="3921621"/>
            <a:ext cx="83803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2DED0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F2DED0"/>
                </a:solidFill>
                <a:latin typeface="Source Sans 3"/>
                <a:ea typeface="Source Sans 3"/>
                <a:cs typeface="Source Sans 3"/>
                <a:sym typeface="Source Sans 3"/>
              </a:rPr>
              <a:t>Microsoft Build AI Hackathon 2026</a:t>
            </a: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 ·  </a:t>
            </a:r>
            <a:r>
              <a:rPr lang="en-US" sz="1100" b="0" i="0" u="none" strike="noStrike" cap="none">
                <a:solidFill>
                  <a:srgbClr val="BAB6AA"/>
                </a:solidFill>
                <a:latin typeface="Source Sans 3"/>
                <a:ea typeface="Source Sans 3"/>
                <a:cs typeface="Source Sans 3"/>
                <a:sym typeface="Source Sans 3"/>
              </a:rPr>
              <a:t>Nishchal Soni &amp; Kuldeep Parmar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/>
          <p:nvPr/>
        </p:nvSpPr>
        <p:spPr>
          <a:xfrm>
            <a:off x="426393" y="375493"/>
            <a:ext cx="1399208" cy="237083"/>
          </a:xfrm>
          <a:prstGeom prst="roundRect">
            <a:avLst>
              <a:gd name="adj" fmla="val 2411"/>
            </a:avLst>
          </a:prstGeom>
          <a:noFill/>
          <a:ln w="9525" cap="flat" cmpd="sng">
            <a:solidFill>
              <a:srgbClr val="8061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2"/>
          <p:cNvSpPr/>
          <p:nvPr/>
        </p:nvSpPr>
        <p:spPr>
          <a:xfrm>
            <a:off x="508992" y="421556"/>
            <a:ext cx="1691208" cy="144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8061FF"/>
              </a:buClr>
              <a:buSzPts val="750"/>
              <a:buFont typeface="Source Sans 3"/>
              <a:buNone/>
            </a:pPr>
            <a:r>
              <a:rPr lang="en-US" sz="750" b="0" i="0" u="none" strike="noStrike" cap="none">
                <a:solidFill>
                  <a:srgbClr val="806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HACKATHON QUEST REGISTRY</a:t>
            </a:r>
            <a:endParaRPr sz="750" b="0" i="0" u="none" strike="noStrike" cap="none"/>
          </a:p>
        </p:txBody>
      </p:sp>
      <p:sp>
        <p:nvSpPr>
          <p:cNvPr id="89" name="Google Shape;89;p22"/>
          <p:cNvSpPr/>
          <p:nvPr/>
        </p:nvSpPr>
        <p:spPr>
          <a:xfrm>
            <a:off x="426393" y="654397"/>
            <a:ext cx="3502968" cy="38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2350"/>
              <a:buFont typeface="Lora"/>
              <a:buNone/>
            </a:pPr>
            <a:r>
              <a:rPr lang="en-US" sz="235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Enter the Arena</a:t>
            </a:r>
            <a:endParaRPr sz="2350" b="0" i="0" u="none" strike="noStrike" cap="none"/>
          </a:p>
        </p:txBody>
      </p:sp>
      <p:sp>
        <p:nvSpPr>
          <p:cNvPr id="90" name="Google Shape;90;p22"/>
          <p:cNvSpPr/>
          <p:nvPr/>
        </p:nvSpPr>
        <p:spPr>
          <a:xfrm>
            <a:off x="426393" y="1192113"/>
            <a:ext cx="8291215" cy="476101"/>
          </a:xfrm>
          <a:prstGeom prst="roundRect">
            <a:avLst>
              <a:gd name="adj" fmla="val 1200"/>
            </a:avLst>
          </a:prstGeom>
          <a:solidFill>
            <a:srgbClr val="4B3F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208" y="1366317"/>
            <a:ext cx="152251" cy="1218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/>
          <p:nvPr/>
        </p:nvSpPr>
        <p:spPr>
          <a:xfrm>
            <a:off x="822275" y="1327175"/>
            <a:ext cx="8230716" cy="18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Source Sans 3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⚠️</a:t>
            </a:r>
            <a:r>
              <a:rPr lang="en-US" sz="9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0" b="1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SYSTEM ALERT ]</a:t>
            </a:r>
            <a:r>
              <a:rPr lang="en-US" sz="9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Only the strongest agents survive. Standard chatbots have been eliminated from consideration.</a:t>
            </a:r>
            <a:endParaRPr sz="950" b="0" i="0" u="none" strike="noStrike" cap="none"/>
          </a:p>
        </p:txBody>
      </p:sp>
      <p:sp>
        <p:nvSpPr>
          <p:cNvPr id="93" name="Google Shape;93;p22"/>
          <p:cNvSpPr/>
          <p:nvPr/>
        </p:nvSpPr>
        <p:spPr>
          <a:xfrm>
            <a:off x="338650" y="1785945"/>
            <a:ext cx="4172400" cy="1842600"/>
          </a:xfrm>
          <a:prstGeom prst="roundRect">
            <a:avLst>
              <a:gd name="adj" fmla="val 192"/>
            </a:avLst>
          </a:prstGeom>
          <a:solidFill>
            <a:srgbClr val="1516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2"/>
          <p:cNvSpPr/>
          <p:nvPr/>
        </p:nvSpPr>
        <p:spPr>
          <a:xfrm>
            <a:off x="460474" y="1890564"/>
            <a:ext cx="2016175" cy="195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⚔️</a:t>
            </a:r>
            <a:r>
              <a:rPr lang="en-US" sz="11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Build AI Live Arena</a:t>
            </a:r>
            <a:endParaRPr sz="1150" b="0" i="0" u="none" strike="noStrike" cap="none"/>
          </a:p>
        </p:txBody>
      </p:sp>
      <p:sp>
        <p:nvSpPr>
          <p:cNvPr id="95" name="Google Shape;95;p22"/>
          <p:cNvSpPr/>
          <p:nvPr/>
        </p:nvSpPr>
        <p:spPr>
          <a:xfrm>
            <a:off x="460475" y="2203400"/>
            <a:ext cx="3928800" cy="1181100"/>
          </a:xfrm>
          <a:prstGeom prst="roundRect">
            <a:avLst>
              <a:gd name="adj" fmla="val 7378"/>
            </a:avLst>
          </a:prstGeom>
          <a:solidFill>
            <a:srgbClr val="151617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2"/>
          <p:cNvSpPr/>
          <p:nvPr/>
        </p:nvSpPr>
        <p:spPr>
          <a:xfrm>
            <a:off x="446187" y="2203400"/>
            <a:ext cx="57150" cy="929580"/>
          </a:xfrm>
          <a:prstGeom prst="roundRect">
            <a:avLst>
              <a:gd name="adj" fmla="val 10000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2"/>
          <p:cNvSpPr/>
          <p:nvPr/>
        </p:nvSpPr>
        <p:spPr>
          <a:xfrm>
            <a:off x="639440" y="2339504"/>
            <a:ext cx="2267545" cy="19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10,200+ Competitors Registered</a:t>
            </a:r>
            <a:endParaRPr sz="1150" b="0" i="0" u="none" strike="noStrike" cap="none"/>
          </a:p>
        </p:txBody>
      </p:sp>
      <p:sp>
        <p:nvSpPr>
          <p:cNvPr id="98" name="Google Shape;98;p22"/>
          <p:cNvSpPr/>
          <p:nvPr/>
        </p:nvSpPr>
        <p:spPr>
          <a:xfrm>
            <a:off x="639440" y="2634481"/>
            <a:ext cx="3613770" cy="36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ource Sans 3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Competing against top global builders in an intensive online system deployment phase — no warm-up rounds.</a:t>
            </a:r>
            <a:endParaRPr sz="950" b="0" i="0" u="none" strike="noStrike" cap="none"/>
          </a:p>
        </p:txBody>
      </p:sp>
      <p:sp>
        <p:nvSpPr>
          <p:cNvPr id="99" name="Google Shape;99;p22"/>
          <p:cNvSpPr/>
          <p:nvPr/>
        </p:nvSpPr>
        <p:spPr>
          <a:xfrm>
            <a:off x="4725367" y="1890564"/>
            <a:ext cx="2529408" cy="195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🌐</a:t>
            </a:r>
            <a:r>
              <a:rPr lang="en-US" sz="11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Core Theme: Agentic Web</a:t>
            </a:r>
            <a:endParaRPr sz="1150" b="0" i="0" u="none" strike="noStrike" cap="none"/>
          </a:p>
        </p:txBody>
      </p:sp>
      <p:sp>
        <p:nvSpPr>
          <p:cNvPr id="100" name="Google Shape;100;p22"/>
          <p:cNvSpPr/>
          <p:nvPr/>
        </p:nvSpPr>
        <p:spPr>
          <a:xfrm>
            <a:off x="4725367" y="2203400"/>
            <a:ext cx="3997003" cy="1110779"/>
          </a:xfrm>
          <a:prstGeom prst="roundRect">
            <a:avLst>
              <a:gd name="adj" fmla="val 6174"/>
            </a:avLst>
          </a:prstGeom>
          <a:solidFill>
            <a:srgbClr val="0C0A33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2"/>
          <p:cNvSpPr/>
          <p:nvPr/>
        </p:nvSpPr>
        <p:spPr>
          <a:xfrm>
            <a:off x="4711080" y="2203400"/>
            <a:ext cx="57150" cy="1110779"/>
          </a:xfrm>
          <a:prstGeom prst="roundRect">
            <a:avLst>
              <a:gd name="adj" fmla="val 10000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2"/>
          <p:cNvSpPr/>
          <p:nvPr/>
        </p:nvSpPr>
        <p:spPr>
          <a:xfrm>
            <a:off x="4904333" y="2339504"/>
            <a:ext cx="2319114" cy="19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100% Fully Autonomous Systems</a:t>
            </a:r>
            <a:endParaRPr sz="1150" b="0" i="0" u="none" strike="noStrike" cap="none"/>
          </a:p>
        </p:txBody>
      </p:sp>
      <p:sp>
        <p:nvSpPr>
          <p:cNvPr id="103" name="Google Shape;103;p22"/>
          <p:cNvSpPr/>
          <p:nvPr/>
        </p:nvSpPr>
        <p:spPr>
          <a:xfrm>
            <a:off x="4904333" y="2634481"/>
            <a:ext cx="3681933" cy="54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ource Sans 3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Tasked with building agents that navigate websites, plan dynamically, recover from errors, and clear complete workflows — zero human intervention.</a:t>
            </a:r>
            <a:endParaRPr sz="95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>
            <a:off x="449610" y="353616"/>
            <a:ext cx="774948" cy="233660"/>
          </a:xfrm>
          <a:prstGeom prst="roundRect">
            <a:avLst>
              <a:gd name="adj" fmla="val 2446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3"/>
          <p:cNvSpPr/>
          <p:nvPr/>
        </p:nvSpPr>
        <p:spPr>
          <a:xfrm>
            <a:off x="526628" y="392088"/>
            <a:ext cx="1078111" cy="15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PROBLEM</a:t>
            </a:r>
            <a:endParaRPr sz="800" b="0" i="0" u="none" strike="noStrike" cap="none"/>
          </a:p>
        </p:txBody>
      </p:sp>
      <p:sp>
        <p:nvSpPr>
          <p:cNvPr id="111" name="Google Shape;111;p23"/>
          <p:cNvSpPr/>
          <p:nvPr/>
        </p:nvSpPr>
        <p:spPr>
          <a:xfrm>
            <a:off x="449610" y="633785"/>
            <a:ext cx="4671343" cy="40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2500"/>
              <a:buFont typeface="Lora"/>
              <a:buNone/>
            </a:pPr>
            <a:r>
              <a:rPr lang="en-US" sz="250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E-Rank vs S-Rank Execution</a:t>
            </a:r>
            <a:endParaRPr sz="2500" b="0" i="0" u="none" strike="noStrike" cap="none"/>
          </a:p>
        </p:txBody>
      </p:sp>
      <p:sp>
        <p:nvSpPr>
          <p:cNvPr id="112" name="Google Shape;112;p23"/>
          <p:cNvSpPr/>
          <p:nvPr/>
        </p:nvSpPr>
        <p:spPr>
          <a:xfrm>
            <a:off x="449610" y="1209824"/>
            <a:ext cx="8244780" cy="513383"/>
          </a:xfrm>
          <a:prstGeom prst="roundRect">
            <a:avLst>
              <a:gd name="adj" fmla="val 1113"/>
            </a:avLst>
          </a:prstGeom>
          <a:solidFill>
            <a:srgbClr val="4507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048" y="1396008"/>
            <a:ext cx="160586" cy="12843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/>
          <p:nvPr/>
        </p:nvSpPr>
        <p:spPr>
          <a:xfrm>
            <a:off x="867073" y="1358280"/>
            <a:ext cx="8156079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🚨</a:t>
            </a:r>
            <a:r>
              <a:rPr lang="en-US" sz="10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000" b="1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SYSTEM WARNING ]</a:t>
            </a:r>
            <a:r>
              <a:rPr lang="en-US" sz="10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E-Rank AI performance detected. Initiating rank-up sequence...</a:t>
            </a:r>
            <a:endParaRPr sz="1000" b="0" i="0" u="none" strike="noStrike" cap="none"/>
          </a:p>
        </p:txBody>
      </p:sp>
      <p:sp>
        <p:nvSpPr>
          <p:cNvPr id="115" name="Google Shape;115;p23"/>
          <p:cNvSpPr/>
          <p:nvPr/>
        </p:nvSpPr>
        <p:spPr>
          <a:xfrm>
            <a:off x="449610" y="1970559"/>
            <a:ext cx="2063130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Lora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✗ E-Rank AI Chatbot</a:t>
            </a:r>
            <a:endParaRPr sz="1250" b="0" i="0" u="none" strike="noStrike" cap="none"/>
          </a:p>
        </p:txBody>
      </p:sp>
      <p:sp>
        <p:nvSpPr>
          <p:cNvPr id="116" name="Google Shape;116;p23"/>
          <p:cNvSpPr/>
          <p:nvPr/>
        </p:nvSpPr>
        <p:spPr>
          <a:xfrm>
            <a:off x="449610" y="2302222"/>
            <a:ext cx="1924645" cy="677317"/>
          </a:xfrm>
          <a:prstGeom prst="roundRect">
            <a:avLst>
              <a:gd name="adj" fmla="val 844"/>
            </a:avLst>
          </a:prstGeom>
          <a:solidFill>
            <a:srgbClr val="3A3A3A"/>
          </a:solidFill>
          <a:ln w="14275" cap="flat" cmpd="sng">
            <a:solidFill>
              <a:srgbClr val="5353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3"/>
          <p:cNvSpPr/>
          <p:nvPr/>
        </p:nvSpPr>
        <p:spPr>
          <a:xfrm>
            <a:off x="592336" y="2444948"/>
            <a:ext cx="163919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 only answer static QA prompts</a:t>
            </a:r>
            <a:endParaRPr sz="1000" b="0" i="0" u="none" strike="noStrike" cap="none"/>
          </a:p>
        </p:txBody>
      </p:sp>
      <p:sp>
        <p:nvSpPr>
          <p:cNvPr id="118" name="Google Shape;118;p23"/>
          <p:cNvSpPr/>
          <p:nvPr/>
        </p:nvSpPr>
        <p:spPr>
          <a:xfrm>
            <a:off x="2490639" y="2302222"/>
            <a:ext cx="1924645" cy="677317"/>
          </a:xfrm>
          <a:prstGeom prst="roundRect">
            <a:avLst>
              <a:gd name="adj" fmla="val 844"/>
            </a:avLst>
          </a:prstGeom>
          <a:solidFill>
            <a:srgbClr val="3A3A3A"/>
          </a:solidFill>
          <a:ln w="14275" cap="flat" cmpd="sng">
            <a:solidFill>
              <a:srgbClr val="5353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3"/>
          <p:cNvSpPr/>
          <p:nvPr/>
        </p:nvSpPr>
        <p:spPr>
          <a:xfrm>
            <a:off x="2633365" y="2444948"/>
            <a:ext cx="163919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Cannot navigate live visual web components</a:t>
            </a:r>
            <a:endParaRPr sz="1000" b="0" i="0" u="none" strike="noStrike" cap="none"/>
          </a:p>
        </p:txBody>
      </p:sp>
      <p:sp>
        <p:nvSpPr>
          <p:cNvPr id="120" name="Google Shape;120;p23"/>
          <p:cNvSpPr/>
          <p:nvPr/>
        </p:nvSpPr>
        <p:spPr>
          <a:xfrm>
            <a:off x="449610" y="3095923"/>
            <a:ext cx="1924645" cy="677317"/>
          </a:xfrm>
          <a:prstGeom prst="roundRect">
            <a:avLst>
              <a:gd name="adj" fmla="val 844"/>
            </a:avLst>
          </a:prstGeom>
          <a:solidFill>
            <a:srgbClr val="3A3A3A"/>
          </a:solidFill>
          <a:ln w="14275" cap="flat" cmpd="sng">
            <a:solidFill>
              <a:srgbClr val="5353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3"/>
          <p:cNvSpPr/>
          <p:nvPr/>
        </p:nvSpPr>
        <p:spPr>
          <a:xfrm>
            <a:off x="592336" y="3238649"/>
            <a:ext cx="163919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Fails completely at system form-fills</a:t>
            </a:r>
            <a:endParaRPr sz="1000" b="0" i="0" u="none" strike="noStrike" cap="none"/>
          </a:p>
        </p:txBody>
      </p:sp>
      <p:sp>
        <p:nvSpPr>
          <p:cNvPr id="122" name="Google Shape;122;p23"/>
          <p:cNvSpPr/>
          <p:nvPr/>
        </p:nvSpPr>
        <p:spPr>
          <a:xfrm>
            <a:off x="2490639" y="3095923"/>
            <a:ext cx="1924645" cy="677317"/>
          </a:xfrm>
          <a:prstGeom prst="roundRect">
            <a:avLst>
              <a:gd name="adj" fmla="val 844"/>
            </a:avLst>
          </a:prstGeom>
          <a:solidFill>
            <a:srgbClr val="3A3A3A"/>
          </a:solidFill>
          <a:ln w="14275" cap="flat" cmpd="sng">
            <a:solidFill>
              <a:srgbClr val="5353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3"/>
          <p:cNvSpPr/>
          <p:nvPr/>
        </p:nvSpPr>
        <p:spPr>
          <a:xfrm>
            <a:off x="2633365" y="3238649"/>
            <a:ext cx="163919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Requires heavy external supervision</a:t>
            </a:r>
            <a:endParaRPr sz="1000" b="0" i="0" u="none" strike="noStrike" cap="none"/>
          </a:p>
        </p:txBody>
      </p:sp>
      <p:sp>
        <p:nvSpPr>
          <p:cNvPr id="124" name="Google Shape;124;p23"/>
          <p:cNvSpPr/>
          <p:nvPr/>
        </p:nvSpPr>
        <p:spPr>
          <a:xfrm>
            <a:off x="4733479" y="1970559"/>
            <a:ext cx="2063130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Lora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✓ S-Rank WebPilot</a:t>
            </a:r>
            <a:endParaRPr sz="1250" b="0" i="0" u="none" strike="noStrike" cap="none"/>
          </a:p>
        </p:txBody>
      </p:sp>
      <p:sp>
        <p:nvSpPr>
          <p:cNvPr id="125" name="Google Shape;125;p23"/>
          <p:cNvSpPr/>
          <p:nvPr/>
        </p:nvSpPr>
        <p:spPr>
          <a:xfrm>
            <a:off x="4733479" y="2302222"/>
            <a:ext cx="1924645" cy="677317"/>
          </a:xfrm>
          <a:prstGeom prst="roundRect">
            <a:avLst>
              <a:gd name="adj" fmla="val 844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3"/>
          <p:cNvSpPr/>
          <p:nvPr/>
        </p:nvSpPr>
        <p:spPr>
          <a:xfrm>
            <a:off x="4876205" y="2444948"/>
            <a:ext cx="163919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Navigates live production web spaces</a:t>
            </a:r>
            <a:endParaRPr sz="1000" b="0" i="0" u="none" strike="noStrike" cap="none"/>
          </a:p>
        </p:txBody>
      </p:sp>
      <p:sp>
        <p:nvSpPr>
          <p:cNvPr id="127" name="Google Shape;127;p23"/>
          <p:cNvSpPr/>
          <p:nvPr/>
        </p:nvSpPr>
        <p:spPr>
          <a:xfrm>
            <a:off x="6774507" y="2302222"/>
            <a:ext cx="1924645" cy="677317"/>
          </a:xfrm>
          <a:prstGeom prst="roundRect">
            <a:avLst>
              <a:gd name="adj" fmla="val 844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3"/>
          <p:cNvSpPr/>
          <p:nvPr/>
        </p:nvSpPr>
        <p:spPr>
          <a:xfrm>
            <a:off x="6917234" y="2444948"/>
            <a:ext cx="163919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Orchestrates deep multi-step missions</a:t>
            </a:r>
            <a:endParaRPr sz="1000" b="0" i="0" u="none" strike="noStrike" cap="none"/>
          </a:p>
        </p:txBody>
      </p:sp>
      <p:sp>
        <p:nvSpPr>
          <p:cNvPr id="129" name="Google Shape;129;p23"/>
          <p:cNvSpPr/>
          <p:nvPr/>
        </p:nvSpPr>
        <p:spPr>
          <a:xfrm>
            <a:off x="4733479" y="3095923"/>
            <a:ext cx="1924645" cy="677317"/>
          </a:xfrm>
          <a:prstGeom prst="roundRect">
            <a:avLst>
              <a:gd name="adj" fmla="val 844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4876205" y="3238649"/>
            <a:ext cx="163919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Self-recovers and adapts on element shifts</a:t>
            </a:r>
            <a:endParaRPr sz="1000" b="0" i="0" u="none" strike="noStrike" cap="none"/>
          </a:p>
        </p:txBody>
      </p:sp>
      <p:sp>
        <p:nvSpPr>
          <p:cNvPr id="131" name="Google Shape;131;p23"/>
          <p:cNvSpPr/>
          <p:nvPr/>
        </p:nvSpPr>
        <p:spPr>
          <a:xfrm>
            <a:off x="6774507" y="3095923"/>
            <a:ext cx="1924645" cy="677317"/>
          </a:xfrm>
          <a:prstGeom prst="roundRect">
            <a:avLst>
              <a:gd name="adj" fmla="val 844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6917234" y="3238649"/>
            <a:ext cx="1639193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Zero human hand-holding needed</a:t>
            </a:r>
            <a:endParaRPr sz="1000" b="0" i="0" u="none" strike="noStrike" cap="none"/>
          </a:p>
        </p:txBody>
      </p:sp>
      <p:pic>
        <p:nvPicPr>
          <p:cNvPr id="133" name="Google Shape;133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0" y="4035177"/>
            <a:ext cx="8244780" cy="722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827336" y="335831"/>
            <a:ext cx="838646" cy="187672"/>
          </a:xfrm>
          <a:prstGeom prst="roundRect">
            <a:avLst>
              <a:gd name="adj" fmla="val 304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892448" y="368350"/>
            <a:ext cx="1165622" cy="12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Source Sans 3"/>
              <a:buNone/>
            </a:pPr>
            <a:r>
              <a:rPr lang="en-US" sz="6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STATUS WINDOW ]</a:t>
            </a:r>
            <a:endParaRPr sz="650" b="0" i="0" u="none" strike="noStrike" cap="none"/>
          </a:p>
        </p:txBody>
      </p:sp>
      <p:sp>
        <p:nvSpPr>
          <p:cNvPr id="141" name="Google Shape;141;p24"/>
          <p:cNvSpPr/>
          <p:nvPr/>
        </p:nvSpPr>
        <p:spPr>
          <a:xfrm>
            <a:off x="827336" y="556692"/>
            <a:ext cx="3930625" cy="33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2100"/>
              <a:buFont typeface="Lora"/>
              <a:buNone/>
            </a:pPr>
            <a:r>
              <a:rPr lang="en-US" sz="210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WebPilot — Runtime Matrix</a:t>
            </a:r>
            <a:endParaRPr sz="2100" b="0" i="0" u="none" strike="noStrike" cap="none"/>
          </a:p>
        </p:txBody>
      </p:sp>
      <p:sp>
        <p:nvSpPr>
          <p:cNvPr id="142" name="Google Shape;142;p24"/>
          <p:cNvSpPr/>
          <p:nvPr/>
        </p:nvSpPr>
        <p:spPr>
          <a:xfrm>
            <a:off x="749189" y="1065864"/>
            <a:ext cx="2993100" cy="3787200"/>
          </a:xfrm>
          <a:prstGeom prst="roundRect">
            <a:avLst>
              <a:gd name="adj" fmla="val 191"/>
            </a:avLst>
          </a:prstGeom>
          <a:solidFill>
            <a:srgbClr val="1516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857696" y="1103561"/>
            <a:ext cx="1813917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Agent Profile</a:t>
            </a:r>
            <a:endParaRPr sz="1050" b="0" i="0" u="none" strike="noStrike" cap="none"/>
          </a:p>
        </p:txBody>
      </p:sp>
      <p:sp>
        <p:nvSpPr>
          <p:cNvPr id="144" name="Google Shape;144;p24"/>
          <p:cNvSpPr/>
          <p:nvPr/>
        </p:nvSpPr>
        <p:spPr>
          <a:xfrm>
            <a:off x="857696" y="1356122"/>
            <a:ext cx="2776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1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NAME:</a:t>
            </a: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WebPilot</a:t>
            </a:r>
            <a:endParaRPr sz="850" b="0" i="0" u="none" strike="noStrike" cap="none"/>
          </a:p>
          <a:p>
            <a:pPr marL="0" marR="0" lvl="0" indent="0" algn="l" rtl="0">
              <a:lnSpc>
                <a:spcPct val="118000"/>
              </a:lnSpc>
              <a:spcBef>
                <a:spcPts val="55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1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CLASS:</a:t>
            </a: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Autonomous Web Agent</a:t>
            </a:r>
            <a:endParaRPr sz="850" b="0" i="0" u="none" strike="noStrike" cap="none"/>
          </a:p>
          <a:p>
            <a:pPr marL="0" marR="0" lvl="0" indent="0" algn="l" rtl="0">
              <a:lnSpc>
                <a:spcPct val="118000"/>
              </a:lnSpc>
              <a:spcBef>
                <a:spcPts val="55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1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RANK:</a:t>
            </a: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850" b="0" i="0" u="none" strike="noStrike" cap="none">
                <a:solidFill>
                  <a:srgbClr val="F2DED0"/>
                </a:solidFill>
                <a:latin typeface="Source Sans 3"/>
                <a:ea typeface="Source Sans 3"/>
                <a:cs typeface="Source Sans 3"/>
                <a:sym typeface="Source Sans 3"/>
              </a:rPr>
              <a:t>S</a:t>
            </a:r>
            <a:endParaRPr sz="850" b="0" i="0" u="none" strike="noStrike" cap="none"/>
          </a:p>
        </p:txBody>
      </p:sp>
      <p:sp>
        <p:nvSpPr>
          <p:cNvPr id="145" name="Google Shape;145;p24"/>
          <p:cNvSpPr/>
          <p:nvPr/>
        </p:nvSpPr>
        <p:spPr>
          <a:xfrm>
            <a:off x="857696" y="2086124"/>
            <a:ext cx="2776091" cy="8111"/>
          </a:xfrm>
          <a:prstGeom prst="rect">
            <a:avLst/>
          </a:prstGeom>
          <a:solidFill>
            <a:srgbClr val="D9E1FF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857696" y="2214786"/>
            <a:ext cx="2776091" cy="61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1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MISSION BRIEFING:</a:t>
            </a: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Fulfills high-level web objectives seamlessly — no brittle API dependency trees, no custom scrapers. Give WebPilot a text statement, and it plans browser sequences dynamically.</a:t>
            </a:r>
            <a:endParaRPr sz="850" b="0" i="0" u="none" strike="noStrike" cap="none"/>
          </a:p>
        </p:txBody>
      </p:sp>
      <p:sp>
        <p:nvSpPr>
          <p:cNvPr id="147" name="Google Shape;147;p24"/>
          <p:cNvSpPr/>
          <p:nvPr/>
        </p:nvSpPr>
        <p:spPr>
          <a:xfrm>
            <a:off x="857696" y="2921422"/>
            <a:ext cx="2776091" cy="392460"/>
          </a:xfrm>
          <a:prstGeom prst="roundRect">
            <a:avLst>
              <a:gd name="adj" fmla="val 1456"/>
            </a:avLst>
          </a:prstGeom>
          <a:solidFill>
            <a:srgbClr val="183A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192" y="3071589"/>
            <a:ext cx="135657" cy="10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1210345" y="3031554"/>
            <a:ext cx="2772147" cy="15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  <a:r>
              <a:rPr lang="en-US" sz="8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850" b="1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STATUS:</a:t>
            </a:r>
            <a:r>
              <a:rPr lang="en-US" sz="8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AWAKENED — Ready for deployment</a:t>
            </a:r>
            <a:endParaRPr sz="850" b="0" i="0" u="none" strike="noStrike" cap="none"/>
          </a:p>
        </p:txBody>
      </p:sp>
      <p:sp>
        <p:nvSpPr>
          <p:cNvPr id="150" name="Google Shape;150;p24"/>
          <p:cNvSpPr/>
          <p:nvPr/>
        </p:nvSpPr>
        <p:spPr>
          <a:xfrm>
            <a:off x="3933676" y="1103561"/>
            <a:ext cx="1813917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Attribute Metrics</a:t>
            </a:r>
            <a:endParaRPr sz="1050" b="0" i="0" u="none" strike="noStrike" cap="none"/>
          </a:p>
        </p:txBody>
      </p:sp>
      <p:sp>
        <p:nvSpPr>
          <p:cNvPr id="151" name="Google Shape;151;p24"/>
          <p:cNvSpPr/>
          <p:nvPr/>
        </p:nvSpPr>
        <p:spPr>
          <a:xfrm>
            <a:off x="3933676" y="1420788"/>
            <a:ext cx="4035996" cy="135657"/>
          </a:xfrm>
          <a:prstGeom prst="roundRect">
            <a:avLst>
              <a:gd name="adj" fmla="val 4213"/>
            </a:avLst>
          </a:prstGeom>
          <a:solidFill>
            <a:srgbClr val="2B2952"/>
          </a:solidFill>
          <a:ln w="952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3933676" y="1420788"/>
            <a:ext cx="3834185" cy="135657"/>
          </a:xfrm>
          <a:prstGeom prst="roundRect">
            <a:avLst>
              <a:gd name="adj" fmla="val 4213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4"/>
          <p:cNvSpPr/>
          <p:nvPr/>
        </p:nvSpPr>
        <p:spPr>
          <a:xfrm>
            <a:off x="8051006" y="1420788"/>
            <a:ext cx="270272" cy="13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95%</a:t>
            </a:r>
            <a:endParaRPr sz="1050" b="0" i="0" u="none" strike="noStrike" cap="none"/>
          </a:p>
        </p:txBody>
      </p:sp>
      <p:sp>
        <p:nvSpPr>
          <p:cNvPr id="154" name="Google Shape;154;p24"/>
          <p:cNvSpPr/>
          <p:nvPr/>
        </p:nvSpPr>
        <p:spPr>
          <a:xfrm>
            <a:off x="3933676" y="1672977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Planning</a:t>
            </a:r>
            <a:endParaRPr sz="1050" b="0" i="0" u="none" strike="noStrike" cap="none"/>
          </a:p>
        </p:txBody>
      </p:sp>
      <p:sp>
        <p:nvSpPr>
          <p:cNvPr id="155" name="Google Shape;155;p24"/>
          <p:cNvSpPr/>
          <p:nvPr/>
        </p:nvSpPr>
        <p:spPr>
          <a:xfrm>
            <a:off x="3933676" y="1925538"/>
            <a:ext cx="4387602" cy="15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Dynamic task decomposition</a:t>
            </a:r>
            <a:endParaRPr sz="850" b="0" i="0" u="none" strike="noStrike" cap="none"/>
          </a:p>
        </p:txBody>
      </p:sp>
      <p:sp>
        <p:nvSpPr>
          <p:cNvPr id="156" name="Google Shape;156;p24"/>
          <p:cNvSpPr/>
          <p:nvPr/>
        </p:nvSpPr>
        <p:spPr>
          <a:xfrm>
            <a:off x="3933676" y="2299246"/>
            <a:ext cx="4025726" cy="135657"/>
          </a:xfrm>
          <a:prstGeom prst="roundRect">
            <a:avLst>
              <a:gd name="adj" fmla="val 4213"/>
            </a:avLst>
          </a:prstGeom>
          <a:solidFill>
            <a:srgbClr val="2B2952"/>
          </a:solidFill>
          <a:ln w="952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4"/>
          <p:cNvSpPr/>
          <p:nvPr/>
        </p:nvSpPr>
        <p:spPr>
          <a:xfrm>
            <a:off x="3933676" y="2299246"/>
            <a:ext cx="3623146" cy="135657"/>
          </a:xfrm>
          <a:prstGeom prst="roundRect">
            <a:avLst>
              <a:gd name="adj" fmla="val 4213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4"/>
          <p:cNvSpPr/>
          <p:nvPr/>
        </p:nvSpPr>
        <p:spPr>
          <a:xfrm>
            <a:off x="8040737" y="2299246"/>
            <a:ext cx="280541" cy="13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90%</a:t>
            </a:r>
            <a:endParaRPr sz="1050" b="0" i="0" u="none" strike="noStrike" cap="none"/>
          </a:p>
        </p:txBody>
      </p:sp>
      <p:sp>
        <p:nvSpPr>
          <p:cNvPr id="159" name="Google Shape;159;p24"/>
          <p:cNvSpPr/>
          <p:nvPr/>
        </p:nvSpPr>
        <p:spPr>
          <a:xfrm>
            <a:off x="3933676" y="2551435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Execution</a:t>
            </a:r>
            <a:endParaRPr sz="1050" b="0" i="0" u="none" strike="noStrike" cap="none"/>
          </a:p>
        </p:txBody>
      </p:sp>
      <p:sp>
        <p:nvSpPr>
          <p:cNvPr id="160" name="Google Shape;160;p24"/>
          <p:cNvSpPr/>
          <p:nvPr/>
        </p:nvSpPr>
        <p:spPr>
          <a:xfrm>
            <a:off x="3933676" y="2803996"/>
            <a:ext cx="4387602" cy="15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Native DOM interaction</a:t>
            </a:r>
            <a:endParaRPr sz="850" b="0" i="0" u="none" strike="noStrike" cap="none"/>
          </a:p>
        </p:txBody>
      </p:sp>
      <p:sp>
        <p:nvSpPr>
          <p:cNvPr id="161" name="Google Shape;161;p24"/>
          <p:cNvSpPr/>
          <p:nvPr/>
        </p:nvSpPr>
        <p:spPr>
          <a:xfrm>
            <a:off x="3933676" y="3177704"/>
            <a:ext cx="4038154" cy="135657"/>
          </a:xfrm>
          <a:prstGeom prst="roundRect">
            <a:avLst>
              <a:gd name="adj" fmla="val 4213"/>
            </a:avLst>
          </a:prstGeom>
          <a:solidFill>
            <a:srgbClr val="2B2952"/>
          </a:solidFill>
          <a:ln w="952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3933676" y="3177704"/>
            <a:ext cx="3432423" cy="135657"/>
          </a:xfrm>
          <a:prstGeom prst="roundRect">
            <a:avLst>
              <a:gd name="adj" fmla="val 4213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8053164" y="3177704"/>
            <a:ext cx="268114" cy="13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85%</a:t>
            </a:r>
            <a:endParaRPr sz="1050" b="0" i="0" u="none" strike="noStrike" cap="none"/>
          </a:p>
        </p:txBody>
      </p:sp>
      <p:sp>
        <p:nvSpPr>
          <p:cNvPr id="164" name="Google Shape;164;p24"/>
          <p:cNvSpPr/>
          <p:nvPr/>
        </p:nvSpPr>
        <p:spPr>
          <a:xfrm>
            <a:off x="3933676" y="3429893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Resilience</a:t>
            </a:r>
            <a:endParaRPr sz="1050" b="0" i="0" u="none" strike="noStrike" cap="none"/>
          </a:p>
        </p:txBody>
      </p:sp>
      <p:sp>
        <p:nvSpPr>
          <p:cNvPr id="165" name="Google Shape;165;p24"/>
          <p:cNvSpPr/>
          <p:nvPr/>
        </p:nvSpPr>
        <p:spPr>
          <a:xfrm>
            <a:off x="3933676" y="3682454"/>
            <a:ext cx="4387602" cy="15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Self-recovery on element shifts</a:t>
            </a:r>
            <a:endParaRPr sz="850" b="0" i="0" u="none" strike="noStrike" cap="none"/>
          </a:p>
        </p:txBody>
      </p:sp>
      <p:sp>
        <p:nvSpPr>
          <p:cNvPr id="166" name="Google Shape;166;p24"/>
          <p:cNvSpPr/>
          <p:nvPr/>
        </p:nvSpPr>
        <p:spPr>
          <a:xfrm>
            <a:off x="3933676" y="4056162"/>
            <a:ext cx="4033689" cy="135657"/>
          </a:xfrm>
          <a:prstGeom prst="roundRect">
            <a:avLst>
              <a:gd name="adj" fmla="val 4213"/>
            </a:avLst>
          </a:prstGeom>
          <a:solidFill>
            <a:srgbClr val="2B2952"/>
          </a:solidFill>
          <a:ln w="952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3933676" y="4056162"/>
            <a:ext cx="3952949" cy="135657"/>
          </a:xfrm>
          <a:prstGeom prst="roundRect">
            <a:avLst>
              <a:gd name="adj" fmla="val 4213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8048699" y="4056162"/>
            <a:ext cx="272579" cy="13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98%</a:t>
            </a:r>
            <a:endParaRPr sz="1050" b="0" i="0" u="none" strike="noStrike" cap="none"/>
          </a:p>
        </p:txBody>
      </p:sp>
      <p:sp>
        <p:nvSpPr>
          <p:cNvPr id="169" name="Google Shape;169;p24"/>
          <p:cNvSpPr/>
          <p:nvPr/>
        </p:nvSpPr>
        <p:spPr>
          <a:xfrm>
            <a:off x="3933676" y="4308351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50"/>
              <a:buFont typeface="Lora"/>
              <a:buNone/>
            </a:pPr>
            <a:r>
              <a:rPr lang="en-US" sz="10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Autonomy</a:t>
            </a:r>
            <a:endParaRPr sz="1050" b="0" i="0" u="none" strike="noStrike" cap="none"/>
          </a:p>
        </p:txBody>
      </p:sp>
      <p:sp>
        <p:nvSpPr>
          <p:cNvPr id="170" name="Google Shape;170;p24"/>
          <p:cNvSpPr/>
          <p:nvPr/>
        </p:nvSpPr>
        <p:spPr>
          <a:xfrm>
            <a:off x="3933676" y="4560912"/>
            <a:ext cx="4387602" cy="153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Zero human supervision required</a:t>
            </a:r>
            <a:endParaRPr sz="850" b="0" i="0" u="none" strike="noStrike" cap="none"/>
          </a:p>
        </p:txBody>
      </p:sp>
      <p:sp>
        <p:nvSpPr>
          <p:cNvPr id="171" name="Google Shape;171;p24"/>
          <p:cNvSpPr/>
          <p:nvPr/>
        </p:nvSpPr>
        <p:spPr>
          <a:xfrm>
            <a:off x="892454" y="3495450"/>
            <a:ext cx="580800" cy="266400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1421" y="3571949"/>
            <a:ext cx="38622" cy="11340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/>
          <p:nvPr/>
        </p:nvSpPr>
        <p:spPr>
          <a:xfrm>
            <a:off x="979344" y="3537950"/>
            <a:ext cx="1813800" cy="1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RANK COMPARISON DETAILS</a:t>
            </a:r>
            <a:endParaRPr sz="850" b="0" i="0" u="none" strike="noStrike" cap="none"/>
          </a:p>
        </p:txBody>
      </p:sp>
      <p:sp>
        <p:nvSpPr>
          <p:cNvPr id="174" name="Google Shape;174;p24"/>
          <p:cNvSpPr/>
          <p:nvPr/>
        </p:nvSpPr>
        <p:spPr>
          <a:xfrm>
            <a:off x="857706" y="3769638"/>
            <a:ext cx="25383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Why the Gap is Unbridgeable</a:t>
            </a:r>
            <a:endParaRPr sz="1350" b="0" i="0" u="none" strike="noStrike" cap="none"/>
          </a:p>
        </p:txBody>
      </p:sp>
      <p:sp>
        <p:nvSpPr>
          <p:cNvPr id="175" name="Google Shape;175;p24"/>
          <p:cNvSpPr/>
          <p:nvPr/>
        </p:nvSpPr>
        <p:spPr>
          <a:xfrm>
            <a:off x="857650" y="4041258"/>
            <a:ext cx="2776200" cy="12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E-Rank systems rely on scripted pipelines with zero adaptability. A single DOM change breaks the entire workflow. S-Rank WebPilot uses LLM-driven dynamic planning — it re-routes like a Shadow Monarch adapting to a new dungeon floor.</a:t>
            </a:r>
            <a:endParaRPr sz="80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1744414" y="264319"/>
            <a:ext cx="1147539" cy="141387"/>
          </a:xfrm>
          <a:prstGeom prst="roundRect">
            <a:avLst>
              <a:gd name="adj" fmla="val 4042"/>
            </a:avLst>
          </a:prstGeom>
          <a:noFill/>
          <a:ln w="9525" cap="flat" cmpd="sng">
            <a:solidFill>
              <a:srgbClr val="8061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5"/>
          <p:cNvSpPr/>
          <p:nvPr/>
        </p:nvSpPr>
        <p:spPr>
          <a:xfrm>
            <a:off x="1798290" y="293638"/>
            <a:ext cx="1496988" cy="82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061FF"/>
              </a:buClr>
              <a:buSzPts val="500"/>
              <a:buFont typeface="Source Sans 3"/>
              <a:buNone/>
            </a:pPr>
            <a:r>
              <a:rPr lang="en-US" sz="500" b="0" i="0" u="none" strike="noStrike" cap="none">
                <a:solidFill>
                  <a:srgbClr val="806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SHADOW SYSTEM ARCHITECTURE</a:t>
            </a:r>
            <a:endParaRPr sz="500" b="0" i="0" u="none" strike="noStrike" cap="none"/>
          </a:p>
        </p:txBody>
      </p:sp>
      <p:sp>
        <p:nvSpPr>
          <p:cNvPr id="183" name="Google Shape;183;p25"/>
          <p:cNvSpPr/>
          <p:nvPr/>
        </p:nvSpPr>
        <p:spPr>
          <a:xfrm>
            <a:off x="1744414" y="424607"/>
            <a:ext cx="3345359" cy="256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1600"/>
              <a:buFont typeface="Lora"/>
              <a:buNone/>
            </a:pPr>
            <a:r>
              <a:rPr lang="en-US" sz="160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Four-Stage Execution Pipeline</a:t>
            </a:r>
            <a:endParaRPr sz="1600" b="0" i="0" u="none" strike="noStrike" cap="none"/>
          </a:p>
        </p:txBody>
      </p:sp>
      <p:sp>
        <p:nvSpPr>
          <p:cNvPr id="184" name="Google Shape;184;p25"/>
          <p:cNvSpPr/>
          <p:nvPr/>
        </p:nvSpPr>
        <p:spPr>
          <a:xfrm>
            <a:off x="1744414" y="751731"/>
            <a:ext cx="5655171" cy="254794"/>
          </a:xfrm>
          <a:prstGeom prst="roundRect">
            <a:avLst>
              <a:gd name="adj" fmla="val 2243"/>
            </a:avLst>
          </a:prstGeom>
          <a:solidFill>
            <a:srgbClr val="0223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6344" y="858589"/>
            <a:ext cx="102394" cy="8193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2010668" y="819522"/>
            <a:ext cx="5764188" cy="10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Source Sans 3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🔮</a:t>
            </a:r>
            <a:r>
              <a:rPr lang="en-US" sz="6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600" b="1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SYSTEM ]</a:t>
            </a:r>
            <a:r>
              <a:rPr lang="en-US" sz="6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Each stage represents a layer of the Shadow Army's command chain — from spoken word to structured conquest.</a:t>
            </a:r>
            <a:endParaRPr sz="600" b="0" i="0" u="none" strike="noStrike" cap="none"/>
          </a:p>
        </p:txBody>
      </p:sp>
      <p:pic>
        <p:nvPicPr>
          <p:cNvPr id="187" name="Google Shape;187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8738" y="1059805"/>
            <a:ext cx="3146524" cy="314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/>
          <p:nvPr/>
        </p:nvSpPr>
        <p:spPr>
          <a:xfrm>
            <a:off x="3075760" y="1619286"/>
            <a:ext cx="1242449" cy="15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Prompt Input</a:t>
            </a:r>
            <a:endParaRPr sz="1000" b="0" i="0" u="none" strike="noStrike" cap="none"/>
          </a:p>
        </p:txBody>
      </p:sp>
      <p:sp>
        <p:nvSpPr>
          <p:cNvPr id="189" name="Google Shape;189;p25"/>
          <p:cNvSpPr/>
          <p:nvPr/>
        </p:nvSpPr>
        <p:spPr>
          <a:xfrm>
            <a:off x="3304360" y="1823576"/>
            <a:ext cx="1013849" cy="30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 defines the high-level task in plain language.</a:t>
            </a:r>
            <a:endParaRPr sz="800" b="0" i="0" u="none" strike="noStrike" cap="none"/>
          </a:p>
        </p:txBody>
      </p:sp>
      <p:sp>
        <p:nvSpPr>
          <p:cNvPr id="190" name="Google Shape;190;p25"/>
          <p:cNvSpPr/>
          <p:nvPr/>
        </p:nvSpPr>
        <p:spPr>
          <a:xfrm>
            <a:off x="4831230" y="1489573"/>
            <a:ext cx="1013849" cy="31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LLM Core Engine</a:t>
            </a:r>
            <a:endParaRPr sz="1000" b="0" i="0" u="none" strike="noStrike" cap="none"/>
          </a:p>
        </p:txBody>
      </p:sp>
      <p:sp>
        <p:nvSpPr>
          <p:cNvPr id="191" name="Google Shape;191;p25"/>
          <p:cNvSpPr/>
          <p:nvPr/>
        </p:nvSpPr>
        <p:spPr>
          <a:xfrm>
            <a:off x="4831230" y="1852912"/>
            <a:ext cx="1013849" cy="40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Dynamically plans and formats browser locator execution chains.</a:t>
            </a:r>
            <a:endParaRPr sz="800" b="0" i="0" u="none" strike="noStrike" cap="none"/>
          </a:p>
        </p:txBody>
      </p:sp>
      <p:sp>
        <p:nvSpPr>
          <p:cNvPr id="192" name="Google Shape;192;p25"/>
          <p:cNvSpPr/>
          <p:nvPr/>
        </p:nvSpPr>
        <p:spPr>
          <a:xfrm>
            <a:off x="3075848" y="3146068"/>
            <a:ext cx="1242449" cy="15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Playwright</a:t>
            </a:r>
            <a:endParaRPr sz="1000" b="0" i="0" u="none" strike="noStrike" cap="none"/>
          </a:p>
        </p:txBody>
      </p:sp>
      <p:sp>
        <p:nvSpPr>
          <p:cNvPr id="193" name="Google Shape;193;p25"/>
          <p:cNvSpPr/>
          <p:nvPr/>
        </p:nvSpPr>
        <p:spPr>
          <a:xfrm>
            <a:off x="3304448" y="3350358"/>
            <a:ext cx="1013849" cy="30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Interacts natively with real DOM elements in Chromium.</a:t>
            </a:r>
            <a:endParaRPr sz="800" b="0" i="0" u="none" strike="noStrike" cap="none"/>
          </a:p>
        </p:txBody>
      </p:sp>
      <p:sp>
        <p:nvSpPr>
          <p:cNvPr id="194" name="Google Shape;194;p25"/>
          <p:cNvSpPr/>
          <p:nvPr/>
        </p:nvSpPr>
        <p:spPr>
          <a:xfrm>
            <a:off x="4602630" y="3146068"/>
            <a:ext cx="1242449" cy="15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ora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Extraction</a:t>
            </a:r>
            <a:endParaRPr sz="1000" b="0" i="0" u="none" strike="noStrike" cap="none"/>
          </a:p>
        </p:txBody>
      </p:sp>
      <p:sp>
        <p:nvSpPr>
          <p:cNvPr id="195" name="Google Shape;195;p25"/>
          <p:cNvSpPr/>
          <p:nvPr/>
        </p:nvSpPr>
        <p:spPr>
          <a:xfrm>
            <a:off x="4831230" y="3350358"/>
            <a:ext cx="1013849" cy="30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Extracts, filters, and formats clean structured payloads.</a:t>
            </a:r>
            <a:endParaRPr sz="800" b="0" i="0" u="none" strike="noStrike" cap="none"/>
          </a:p>
        </p:txBody>
      </p:sp>
      <p:sp>
        <p:nvSpPr>
          <p:cNvPr id="196" name="Google Shape;196;p25"/>
          <p:cNvSpPr/>
          <p:nvPr/>
        </p:nvSpPr>
        <p:spPr>
          <a:xfrm>
            <a:off x="1744414" y="4259535"/>
            <a:ext cx="6112371" cy="10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Source Sans 3"/>
              <a:buNone/>
            </a:pPr>
            <a:r>
              <a:rPr lang="en-US" sz="6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From natural language to structured output — WebPilot's shadow architecture eliminates manual orchestration at every layer of the stack.</a:t>
            </a:r>
            <a:endParaRPr sz="600" b="0" i="0" u="none" strike="noStrike" cap="none"/>
          </a:p>
        </p:txBody>
      </p:sp>
      <p:pic>
        <p:nvPicPr>
          <p:cNvPr id="197" name="Google Shape;197;p2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4414" y="4416251"/>
            <a:ext cx="5655171" cy="442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/>
          <p:nvPr/>
        </p:nvSpPr>
        <p:spPr>
          <a:xfrm>
            <a:off x="496119" y="809253"/>
            <a:ext cx="901898" cy="266402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6"/>
          <p:cNvSpPr/>
          <p:nvPr/>
        </p:nvSpPr>
        <p:spPr>
          <a:xfrm>
            <a:off x="581174" y="851743"/>
            <a:ext cx="1188988" cy="18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DIVE DEEPER ]</a:t>
            </a:r>
            <a:endParaRPr sz="850" b="0" i="0" u="none" strike="noStrike" cap="none"/>
          </a:p>
        </p:txBody>
      </p:sp>
      <p:sp>
        <p:nvSpPr>
          <p:cNvPr id="205" name="Google Shape;205;p26"/>
          <p:cNvSpPr/>
          <p:nvPr/>
        </p:nvSpPr>
        <p:spPr>
          <a:xfrm>
            <a:off x="496119" y="1132359"/>
            <a:ext cx="269728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Stage-by-Stage Breakdown</a:t>
            </a:r>
            <a:endParaRPr sz="1350" b="0" i="0" u="none" strike="noStrike" cap="none"/>
          </a:p>
        </p:txBody>
      </p:sp>
      <p:pic>
        <p:nvPicPr>
          <p:cNvPr id="206" name="Google Shape;206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566416"/>
            <a:ext cx="4075881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637877" y="227521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Prompt Input</a:t>
            </a:r>
            <a:endParaRPr sz="1350" b="0" i="0" u="none" strike="noStrike" cap="none"/>
          </a:p>
        </p:txBody>
      </p:sp>
      <p:sp>
        <p:nvSpPr>
          <p:cNvPr id="208" name="Google Shape;208;p26"/>
          <p:cNvSpPr/>
          <p:nvPr/>
        </p:nvSpPr>
        <p:spPr>
          <a:xfrm>
            <a:off x="637877" y="2581721"/>
            <a:ext cx="3792364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Plain English. No scripting. No XPath. Just intent.</a:t>
            </a:r>
            <a:endParaRPr sz="1100" b="0" i="0" u="none" strike="noStrike" cap="none"/>
          </a:p>
        </p:txBody>
      </p:sp>
      <p:pic>
        <p:nvPicPr>
          <p:cNvPr id="209" name="Google Shape;209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566416"/>
            <a:ext cx="4075881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6"/>
          <p:cNvSpPr/>
          <p:nvPr/>
        </p:nvSpPr>
        <p:spPr>
          <a:xfrm>
            <a:off x="4713759" y="227521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LLM Core Engine</a:t>
            </a:r>
            <a:endParaRPr sz="1350" b="0" i="0" u="none" strike="noStrike" cap="none"/>
          </a:p>
        </p:txBody>
      </p:sp>
      <p:sp>
        <p:nvSpPr>
          <p:cNvPr id="211" name="Google Shape;211;p26"/>
          <p:cNvSpPr/>
          <p:nvPr/>
        </p:nvSpPr>
        <p:spPr>
          <a:xfrm>
            <a:off x="4713759" y="2581721"/>
            <a:ext cx="3792364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GPT-4o plans the full browser action chain dynamically.</a:t>
            </a:r>
            <a:endParaRPr sz="1100" b="0" i="0" u="none" strike="noStrike" cap="none"/>
          </a:p>
        </p:txBody>
      </p:sp>
      <p:pic>
        <p:nvPicPr>
          <p:cNvPr id="212" name="Google Shape;212;p2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19" y="2950294"/>
            <a:ext cx="4075881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/>
          <p:nvPr/>
        </p:nvSpPr>
        <p:spPr>
          <a:xfrm>
            <a:off x="637877" y="365908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Playwright</a:t>
            </a:r>
            <a:endParaRPr sz="1350" b="0" i="0" u="none" strike="noStrike" cap="none"/>
          </a:p>
        </p:txBody>
      </p:sp>
      <p:sp>
        <p:nvSpPr>
          <p:cNvPr id="214" name="Google Shape;214;p26"/>
          <p:cNvSpPr/>
          <p:nvPr/>
        </p:nvSpPr>
        <p:spPr>
          <a:xfrm>
            <a:off x="637877" y="3965600"/>
            <a:ext cx="3792364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Executes real DOM interactions inside Chromium natively.</a:t>
            </a:r>
            <a:endParaRPr sz="1100" b="0" i="0" u="none" strike="noStrike" cap="none"/>
          </a:p>
        </p:txBody>
      </p:sp>
      <p:pic>
        <p:nvPicPr>
          <p:cNvPr id="215" name="Google Shape;215;p2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2950294"/>
            <a:ext cx="4075881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/>
          <p:nvPr/>
        </p:nvSpPr>
        <p:spPr>
          <a:xfrm>
            <a:off x="4713759" y="365908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Extraction</a:t>
            </a:r>
            <a:endParaRPr sz="1350" b="0" i="0" u="none" strike="noStrike" cap="none"/>
          </a:p>
        </p:txBody>
      </p:sp>
      <p:sp>
        <p:nvSpPr>
          <p:cNvPr id="217" name="Google Shape;217;p26"/>
          <p:cNvSpPr/>
          <p:nvPr/>
        </p:nvSpPr>
        <p:spPr>
          <a:xfrm>
            <a:off x="4713759" y="3965600"/>
            <a:ext cx="3792364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Clean structured payloads delivered — mission complete.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1133029" y="287387"/>
            <a:ext cx="901601" cy="168325"/>
          </a:xfrm>
          <a:prstGeom prst="roundRect">
            <a:avLst>
              <a:gd name="adj" fmla="val 339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7"/>
          <p:cNvSpPr/>
          <p:nvPr/>
        </p:nvSpPr>
        <p:spPr>
          <a:xfrm>
            <a:off x="1192783" y="317227"/>
            <a:ext cx="1239292" cy="10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Source Sans 3"/>
              <a:buNone/>
            </a:pPr>
            <a:r>
              <a:rPr lang="en-US" sz="6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DEPLOYMENT CODES ]</a:t>
            </a:r>
            <a:endParaRPr sz="600" b="0" i="0" u="none" strike="noStrike" cap="none"/>
          </a:p>
        </p:txBody>
      </p:sp>
      <p:sp>
        <p:nvSpPr>
          <p:cNvPr id="225" name="Google Shape;225;p27"/>
          <p:cNvSpPr/>
          <p:nvPr/>
        </p:nvSpPr>
        <p:spPr>
          <a:xfrm>
            <a:off x="1133029" y="483691"/>
            <a:ext cx="2949178" cy="311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1950"/>
              <a:buFont typeface="Lora"/>
              <a:buNone/>
            </a:pPr>
            <a:r>
              <a:rPr lang="en-US" sz="195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Initialize the System</a:t>
            </a:r>
            <a:endParaRPr sz="1950" b="0" i="0" u="none" strike="noStrike" cap="none"/>
          </a:p>
        </p:txBody>
      </p:sp>
      <p:sp>
        <p:nvSpPr>
          <p:cNvPr id="226" name="Google Shape;226;p27"/>
          <p:cNvSpPr/>
          <p:nvPr/>
        </p:nvSpPr>
        <p:spPr>
          <a:xfrm>
            <a:off x="1133029" y="900261"/>
            <a:ext cx="6877869" cy="348258"/>
          </a:xfrm>
          <a:prstGeom prst="roundRect">
            <a:avLst>
              <a:gd name="adj" fmla="val 1641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7" name="Google Shape;227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2669" y="1032793"/>
            <a:ext cx="124569" cy="99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/>
          <p:nvPr/>
        </p:nvSpPr>
        <p:spPr>
          <a:xfrm>
            <a:off x="1456879" y="995139"/>
            <a:ext cx="6911578" cy="14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lang="en-US" sz="75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⚙️</a:t>
            </a:r>
            <a:r>
              <a:rPr lang="en-US" sz="7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750" b="1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SYSTEM ]</a:t>
            </a:r>
            <a:r>
              <a:rPr lang="en-US" sz="7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Initiating Shadow Extraction Ceremony... Runtime environment activation in progress.</a:t>
            </a:r>
            <a:endParaRPr sz="750" b="0" i="0" u="none" strike="noStrike" cap="none"/>
          </a:p>
        </p:txBody>
      </p:sp>
      <p:sp>
        <p:nvSpPr>
          <p:cNvPr id="229" name="Google Shape;229;p27"/>
          <p:cNvSpPr/>
          <p:nvPr/>
        </p:nvSpPr>
        <p:spPr>
          <a:xfrm>
            <a:off x="1133029" y="1397347"/>
            <a:ext cx="2261964" cy="1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Lora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Terminal — Environment Setup</a:t>
            </a:r>
            <a:endParaRPr sz="950" b="0" i="0" u="none" strike="noStrike" cap="none"/>
          </a:p>
        </p:txBody>
      </p:sp>
      <p:sp>
        <p:nvSpPr>
          <p:cNvPr id="230" name="Google Shape;230;p27"/>
          <p:cNvSpPr/>
          <p:nvPr/>
        </p:nvSpPr>
        <p:spPr>
          <a:xfrm>
            <a:off x="1133029" y="1631826"/>
            <a:ext cx="3673376" cy="470892"/>
          </a:xfrm>
          <a:prstGeom prst="roundRect">
            <a:avLst>
              <a:gd name="adj" fmla="val 1214"/>
            </a:avLst>
          </a:prstGeom>
          <a:solidFill>
            <a:srgbClr val="1917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1128117" y="1631826"/>
            <a:ext cx="3683198" cy="470892"/>
          </a:xfrm>
          <a:prstGeom prst="roundRect">
            <a:avLst>
              <a:gd name="adj" fmla="val 3175"/>
            </a:avLst>
          </a:prstGeom>
          <a:solidFill>
            <a:srgbClr val="1917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1252686" y="1731466"/>
            <a:ext cx="3434060" cy="27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pip install playwright python-dotenv browser-use</a:t>
            </a:r>
            <a:endParaRPr sz="750" b="0" i="0" u="none" strike="noStrike" cap="none"/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playwright install chromium</a:t>
            </a:r>
            <a:endParaRPr sz="750" b="0" i="0" u="none" strike="noStrike" cap="none"/>
          </a:p>
        </p:txBody>
      </p:sp>
      <p:sp>
        <p:nvSpPr>
          <p:cNvPr id="233" name="Google Shape;233;p27"/>
          <p:cNvSpPr/>
          <p:nvPr/>
        </p:nvSpPr>
        <p:spPr>
          <a:xfrm>
            <a:off x="1133029" y="2181523"/>
            <a:ext cx="2368228" cy="1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Lora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Core Runtime — Agent Bootstrap</a:t>
            </a:r>
            <a:endParaRPr sz="950" b="0" i="0" u="none" strike="noStrike" cap="none"/>
          </a:p>
        </p:txBody>
      </p:sp>
      <p:sp>
        <p:nvSpPr>
          <p:cNvPr id="234" name="Google Shape;234;p27"/>
          <p:cNvSpPr/>
          <p:nvPr/>
        </p:nvSpPr>
        <p:spPr>
          <a:xfrm>
            <a:off x="1133029" y="2416001"/>
            <a:ext cx="3673376" cy="1285726"/>
          </a:xfrm>
          <a:prstGeom prst="roundRect">
            <a:avLst>
              <a:gd name="adj" fmla="val 444"/>
            </a:avLst>
          </a:prstGeom>
          <a:solidFill>
            <a:srgbClr val="1917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1128117" y="2416001"/>
            <a:ext cx="3683198" cy="1285726"/>
          </a:xfrm>
          <a:prstGeom prst="roundRect">
            <a:avLst>
              <a:gd name="adj" fmla="val 1163"/>
            </a:avLst>
          </a:prstGeom>
          <a:solidFill>
            <a:srgbClr val="1917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1252686" y="2515642"/>
            <a:ext cx="3434060" cy="1086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FF7B72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from browser_use import Agent</a:t>
            </a:r>
            <a:endParaRPr sz="750" b="0" i="0" u="none" strike="noStrike" cap="none"/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750"/>
              <a:buFont typeface="Arial"/>
              <a:buNone/>
            </a:pPr>
            <a:endParaRPr sz="750" b="0" i="0" u="none" strike="noStrike" cap="none"/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FF7B72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agent = Agent(</a:t>
            </a:r>
            <a:endParaRPr sz="750" b="0" i="0" u="none" strike="noStrike" cap="none"/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FF7B72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    task="Find the top 3 Python AI libraries on PyPI",</a:t>
            </a:r>
            <a:endParaRPr sz="750" b="0" i="0" u="none" strike="noStrike" cap="none"/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FF7B72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    llm=llm,</a:t>
            </a:r>
            <a:endParaRPr sz="750" b="0" i="0" u="none" strike="noStrike" cap="none"/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FF7B72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    browser_context=browser_context</a:t>
            </a:r>
            <a:endParaRPr sz="750" b="0" i="0" u="none" strike="noStrike" cap="none"/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FF7B72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750" b="0" i="0" u="none" strike="noStrike" cap="none"/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50"/>
              <a:buFont typeface="Consolas"/>
              <a:buNone/>
            </a:pPr>
            <a:r>
              <a:rPr lang="en-US" sz="750" b="0" i="0" u="none" strike="noStrike" cap="none">
                <a:solidFill>
                  <a:srgbClr val="FF7B72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await agent.run()</a:t>
            </a:r>
            <a:endParaRPr sz="750" b="0" i="0" u="none" strike="noStrike" cap="none"/>
          </a:p>
        </p:txBody>
      </p:sp>
      <p:sp>
        <p:nvSpPr>
          <p:cNvPr id="238" name="Google Shape;238;p27"/>
          <p:cNvSpPr/>
          <p:nvPr/>
        </p:nvSpPr>
        <p:spPr>
          <a:xfrm>
            <a:off x="5054352" y="1397347"/>
            <a:ext cx="1703189" cy="1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Lora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Runtime Stack</a:t>
            </a:r>
            <a:endParaRPr sz="950" b="0" i="0" u="none" strike="noStrike" cap="none"/>
          </a:p>
        </p:txBody>
      </p:sp>
      <p:sp>
        <p:nvSpPr>
          <p:cNvPr id="239" name="Google Shape;239;p27"/>
          <p:cNvSpPr/>
          <p:nvPr/>
        </p:nvSpPr>
        <p:spPr>
          <a:xfrm>
            <a:off x="5054352" y="1631826"/>
            <a:ext cx="1445568" cy="725165"/>
          </a:xfrm>
          <a:prstGeom prst="roundRect">
            <a:avLst>
              <a:gd name="adj" fmla="val 788"/>
            </a:avLst>
          </a:prstGeom>
          <a:solidFill>
            <a:srgbClr val="0C0A33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7"/>
          <p:cNvSpPr/>
          <p:nvPr/>
        </p:nvSpPr>
        <p:spPr>
          <a:xfrm>
            <a:off x="5168280" y="1745754"/>
            <a:ext cx="1217712" cy="1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Lora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OpenAI GPT-4o</a:t>
            </a:r>
            <a:endParaRPr sz="950" b="0" i="0" u="none" strike="noStrike" cap="none"/>
          </a:p>
        </p:txBody>
      </p:sp>
      <p:sp>
        <p:nvSpPr>
          <p:cNvPr id="241" name="Google Shape;241;p27"/>
          <p:cNvSpPr/>
          <p:nvPr/>
        </p:nvSpPr>
        <p:spPr>
          <a:xfrm>
            <a:off x="5168280" y="1971452"/>
            <a:ext cx="1217712" cy="27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ource Sans 3"/>
              <a:buNone/>
            </a:pPr>
            <a:r>
              <a:rPr lang="en-US" sz="7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LLM brain for task planning &amp; decision chains</a:t>
            </a:r>
            <a:endParaRPr sz="750" b="0" i="0" u="none" strike="noStrike" cap="none"/>
          </a:p>
        </p:txBody>
      </p:sp>
      <p:sp>
        <p:nvSpPr>
          <p:cNvPr id="242" name="Google Shape;242;p27"/>
          <p:cNvSpPr/>
          <p:nvPr/>
        </p:nvSpPr>
        <p:spPr>
          <a:xfrm>
            <a:off x="6569943" y="1631826"/>
            <a:ext cx="1445642" cy="725165"/>
          </a:xfrm>
          <a:prstGeom prst="roundRect">
            <a:avLst>
              <a:gd name="adj" fmla="val 788"/>
            </a:avLst>
          </a:prstGeom>
          <a:solidFill>
            <a:srgbClr val="0C0A33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6683871" y="1745754"/>
            <a:ext cx="1217786" cy="1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Lora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Browser-Use</a:t>
            </a:r>
            <a:endParaRPr sz="950" b="0" i="0" u="none" strike="noStrike" cap="none"/>
          </a:p>
        </p:txBody>
      </p:sp>
      <p:sp>
        <p:nvSpPr>
          <p:cNvPr id="244" name="Google Shape;244;p27"/>
          <p:cNvSpPr/>
          <p:nvPr/>
        </p:nvSpPr>
        <p:spPr>
          <a:xfrm>
            <a:off x="6683871" y="1971452"/>
            <a:ext cx="1217786" cy="27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ource Sans 3"/>
              <a:buNone/>
            </a:pPr>
            <a:r>
              <a:rPr lang="en-US" sz="7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High-level agentic browser abstraction layer</a:t>
            </a:r>
            <a:endParaRPr sz="750" b="0" i="0" u="none" strike="noStrike" cap="none"/>
          </a:p>
        </p:txBody>
      </p:sp>
      <p:sp>
        <p:nvSpPr>
          <p:cNvPr id="245" name="Google Shape;245;p27"/>
          <p:cNvSpPr/>
          <p:nvPr/>
        </p:nvSpPr>
        <p:spPr>
          <a:xfrm>
            <a:off x="5054352" y="2427015"/>
            <a:ext cx="2961233" cy="589359"/>
          </a:xfrm>
          <a:prstGeom prst="roundRect">
            <a:avLst>
              <a:gd name="adj" fmla="val 970"/>
            </a:avLst>
          </a:prstGeom>
          <a:solidFill>
            <a:srgbClr val="0C0A33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5168280" y="2540943"/>
            <a:ext cx="1245989" cy="155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Lora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Playwright</a:t>
            </a:r>
            <a:endParaRPr sz="950" b="0" i="0" u="none" strike="noStrike" cap="none"/>
          </a:p>
        </p:txBody>
      </p:sp>
      <p:sp>
        <p:nvSpPr>
          <p:cNvPr id="247" name="Google Shape;247;p27"/>
          <p:cNvSpPr/>
          <p:nvPr/>
        </p:nvSpPr>
        <p:spPr>
          <a:xfrm>
            <a:off x="5168280" y="2766640"/>
            <a:ext cx="2733377" cy="135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ource Sans 3"/>
              <a:buNone/>
            </a:pPr>
            <a:r>
              <a:rPr lang="en-US" sz="7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Native Chromium DOM interaction engine</a:t>
            </a:r>
            <a:endParaRPr sz="750" b="0" i="0" u="none" strike="noStrike" cap="none"/>
          </a:p>
        </p:txBody>
      </p:sp>
      <p:sp>
        <p:nvSpPr>
          <p:cNvPr id="248" name="Google Shape;248;p27"/>
          <p:cNvSpPr/>
          <p:nvPr/>
        </p:nvSpPr>
        <p:spPr>
          <a:xfrm>
            <a:off x="5054352" y="3095179"/>
            <a:ext cx="2961233" cy="348258"/>
          </a:xfrm>
          <a:prstGeom prst="roundRect">
            <a:avLst>
              <a:gd name="adj" fmla="val 1641"/>
            </a:avLst>
          </a:prstGeom>
          <a:solidFill>
            <a:srgbClr val="183A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3992" y="3227710"/>
            <a:ext cx="124569" cy="99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/>
          <p:nvPr/>
        </p:nvSpPr>
        <p:spPr>
          <a:xfrm>
            <a:off x="5378202" y="3190056"/>
            <a:ext cx="2994943" cy="14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Source Sans 3"/>
              <a:buNone/>
            </a:pPr>
            <a:r>
              <a:rPr lang="en-US" sz="75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🟢</a:t>
            </a:r>
            <a:r>
              <a:rPr lang="en-US" sz="7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750" b="1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systems online.</a:t>
            </a:r>
            <a:r>
              <a:rPr lang="en-US" sz="7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Shadow Army ready for deployment.</a:t>
            </a:r>
            <a:endParaRPr sz="75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/>
          <p:nvPr/>
        </p:nvSpPr>
        <p:spPr>
          <a:xfrm>
            <a:off x="496119" y="1257523"/>
            <a:ext cx="1643435" cy="266402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8"/>
          <p:cNvSpPr/>
          <p:nvPr/>
        </p:nvSpPr>
        <p:spPr>
          <a:xfrm>
            <a:off x="581174" y="1300014"/>
            <a:ext cx="1930524" cy="18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UNLOCK: ADVANCED CONFIG ]</a:t>
            </a:r>
            <a:endParaRPr sz="850" b="0" i="0" u="none" strike="noStrike" cap="none"/>
          </a:p>
        </p:txBody>
      </p:sp>
      <p:sp>
        <p:nvSpPr>
          <p:cNvPr id="258" name="Google Shape;258;p28"/>
          <p:cNvSpPr/>
          <p:nvPr/>
        </p:nvSpPr>
        <p:spPr>
          <a:xfrm>
            <a:off x="496119" y="1580629"/>
            <a:ext cx="2726159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Optional Power Parameters</a:t>
            </a:r>
            <a:endParaRPr sz="1350" b="0" i="0" u="none" strike="noStrike" cap="none"/>
          </a:p>
        </p:txBody>
      </p:sp>
      <p:sp>
        <p:nvSpPr>
          <p:cNvPr id="259" name="Google Shape;259;p28"/>
          <p:cNvSpPr/>
          <p:nvPr/>
        </p:nvSpPr>
        <p:spPr>
          <a:xfrm>
            <a:off x="496119" y="2014686"/>
            <a:ext cx="8151763" cy="1871216"/>
          </a:xfrm>
          <a:prstGeom prst="roundRect">
            <a:avLst>
              <a:gd name="adj" fmla="val 305"/>
            </a:avLst>
          </a:prstGeom>
          <a:solidFill>
            <a:srgbClr val="1917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8"/>
          <p:cNvSpPr/>
          <p:nvPr/>
        </p:nvSpPr>
        <p:spPr>
          <a:xfrm>
            <a:off x="489049" y="2014686"/>
            <a:ext cx="8165902" cy="1871216"/>
          </a:xfrm>
          <a:prstGeom prst="roundRect">
            <a:avLst>
              <a:gd name="adj" fmla="val 1136"/>
            </a:avLst>
          </a:prstGeom>
          <a:solidFill>
            <a:srgbClr val="1917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666229" y="2156445"/>
            <a:ext cx="7811542" cy="158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agent = Agent(</a:t>
            </a:r>
            <a:endParaRPr sz="1100" b="0" i="0" u="none" strike="noStrike" cap="none"/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task="...",</a:t>
            </a:r>
            <a:endParaRPr sz="1100" b="0" i="0" u="none" strike="noStrike" cap="none"/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llm=llm,</a:t>
            </a:r>
            <a:endParaRPr sz="1100" b="0" i="0" u="none" strike="noStrike" cap="none"/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max_steps=25,</a:t>
            </a:r>
            <a:endParaRPr sz="1100" b="0" i="0" u="none" strike="noStrike" cap="none"/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use_vision=True,</a:t>
            </a:r>
            <a:endParaRPr sz="1100" b="0" i="0" u="none" strike="noStrike" cap="none"/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save_conversation_path="./logs"</a:t>
            </a:r>
            <a:endParaRPr sz="1100" b="0" i="0" u="none" strike="noStrike" cap="none"/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9"/>
          <p:cNvSpPr/>
          <p:nvPr/>
        </p:nvSpPr>
        <p:spPr>
          <a:xfrm>
            <a:off x="496119" y="439713"/>
            <a:ext cx="1146646" cy="266402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9"/>
          <p:cNvSpPr/>
          <p:nvPr/>
        </p:nvSpPr>
        <p:spPr>
          <a:xfrm>
            <a:off x="581174" y="482203"/>
            <a:ext cx="1433736" cy="18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LIVE DEMO QUEST ]</a:t>
            </a:r>
            <a:endParaRPr sz="850" b="0" i="0" u="none" strike="noStrike" cap="none"/>
          </a:p>
        </p:txBody>
      </p:sp>
      <p:sp>
        <p:nvSpPr>
          <p:cNvPr id="270" name="Google Shape;270;p29"/>
          <p:cNvSpPr/>
          <p:nvPr/>
        </p:nvSpPr>
        <p:spPr>
          <a:xfrm>
            <a:off x="496119" y="762819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2750"/>
              <a:buFont typeface="Lora"/>
              <a:buNone/>
            </a:pPr>
            <a:r>
              <a:rPr lang="en-US" sz="275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WebPilot in Action</a:t>
            </a:r>
            <a:endParaRPr sz="2750" b="0" i="0" u="none" strike="noStrike" cap="none"/>
          </a:p>
        </p:txBody>
      </p:sp>
      <p:sp>
        <p:nvSpPr>
          <p:cNvPr id="271" name="Google Shape;271;p29"/>
          <p:cNvSpPr/>
          <p:nvPr/>
        </p:nvSpPr>
        <p:spPr>
          <a:xfrm>
            <a:off x="496119" y="1418406"/>
            <a:ext cx="2290465" cy="1299046"/>
          </a:xfrm>
          <a:prstGeom prst="roundRect">
            <a:avLst>
              <a:gd name="adj" fmla="val 440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652165" y="157445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🔍</a:t>
            </a: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 Research Mission</a:t>
            </a:r>
            <a:endParaRPr sz="1350" b="0" i="0" u="none" strike="noStrike" cap="none"/>
          </a:p>
        </p:txBody>
      </p:sp>
      <p:sp>
        <p:nvSpPr>
          <p:cNvPr id="273" name="Google Shape;273;p29"/>
          <p:cNvSpPr/>
          <p:nvPr/>
        </p:nvSpPr>
        <p:spPr>
          <a:xfrm>
            <a:off x="652165" y="1880964"/>
            <a:ext cx="1978372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Scrape &amp; compare product pricing across live e-commerce sites</a:t>
            </a:r>
            <a:endParaRPr sz="1100" b="0" i="0" u="none" strike="noStrike" cap="none"/>
          </a:p>
        </p:txBody>
      </p:sp>
      <p:sp>
        <p:nvSpPr>
          <p:cNvPr id="274" name="Google Shape;274;p29"/>
          <p:cNvSpPr/>
          <p:nvPr/>
        </p:nvSpPr>
        <p:spPr>
          <a:xfrm>
            <a:off x="2928342" y="1418406"/>
            <a:ext cx="2290539" cy="1299046"/>
          </a:xfrm>
          <a:prstGeom prst="roundRect">
            <a:avLst>
              <a:gd name="adj" fmla="val 440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3084388" y="157445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📋</a:t>
            </a: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 Form Automation</a:t>
            </a:r>
            <a:endParaRPr sz="1350" b="0" i="0" u="none" strike="noStrike" cap="none"/>
          </a:p>
        </p:txBody>
      </p:sp>
      <p:sp>
        <p:nvSpPr>
          <p:cNvPr id="276" name="Google Shape;276;p29"/>
          <p:cNvSpPr/>
          <p:nvPr/>
        </p:nvSpPr>
        <p:spPr>
          <a:xfrm>
            <a:off x="3084388" y="1880964"/>
            <a:ext cx="1978447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 multi-step registration workflows with dynamic field handling</a:t>
            </a:r>
            <a:endParaRPr sz="1100" b="0" i="0" u="none" strike="noStrike" cap="none"/>
          </a:p>
        </p:txBody>
      </p:sp>
      <p:sp>
        <p:nvSpPr>
          <p:cNvPr id="277" name="Google Shape;277;p29"/>
          <p:cNvSpPr/>
          <p:nvPr/>
        </p:nvSpPr>
        <p:spPr>
          <a:xfrm>
            <a:off x="496119" y="2859212"/>
            <a:ext cx="4722763" cy="845418"/>
          </a:xfrm>
          <a:prstGeom prst="roundRect">
            <a:avLst>
              <a:gd name="adj" fmla="val 676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652165" y="301525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📊</a:t>
            </a: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 Data Extraction</a:t>
            </a:r>
            <a:endParaRPr sz="1350" b="0" i="0" u="none" strike="noStrike" cap="none"/>
          </a:p>
        </p:txBody>
      </p:sp>
      <p:sp>
        <p:nvSpPr>
          <p:cNvPr id="279" name="Google Shape;279;p29"/>
          <p:cNvSpPr/>
          <p:nvPr/>
        </p:nvSpPr>
        <p:spPr>
          <a:xfrm>
            <a:off x="652165" y="3321769"/>
            <a:ext cx="441067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Pull structured datasets from complex SPA layouts — no API required</a:t>
            </a:r>
            <a:endParaRPr sz="1100" b="0" i="0" u="none" strike="noStrike" cap="none"/>
          </a:p>
        </p:txBody>
      </p:sp>
      <p:pic>
        <p:nvPicPr>
          <p:cNvPr id="280" name="Google Shape;280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3864099"/>
            <a:ext cx="4722763" cy="804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/>
          <p:nvPr/>
        </p:nvSpPr>
        <p:spPr>
          <a:xfrm>
            <a:off x="496119" y="1481138"/>
            <a:ext cx="1810271" cy="266402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581174" y="1523628"/>
            <a:ext cx="2097360" cy="18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QUEST LOG: MISSIONS CLEARED ]</a:t>
            </a:r>
            <a:endParaRPr sz="850" b="0" i="0" u="none" strike="noStrike" cap="none"/>
          </a:p>
        </p:txBody>
      </p:sp>
      <p:sp>
        <p:nvSpPr>
          <p:cNvPr id="288" name="Google Shape;288;p30"/>
          <p:cNvSpPr/>
          <p:nvPr/>
        </p:nvSpPr>
        <p:spPr>
          <a:xfrm>
            <a:off x="496119" y="1804243"/>
            <a:ext cx="2296269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Dungeon Clear Report</a:t>
            </a:r>
            <a:endParaRPr sz="1350" b="0" i="0" u="none" strike="noStrike" cap="none"/>
          </a:p>
        </p:txBody>
      </p:sp>
      <p:pic>
        <p:nvPicPr>
          <p:cNvPr id="289" name="Google Shape;289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2256011"/>
            <a:ext cx="141759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/>
          <p:nvPr/>
        </p:nvSpPr>
        <p:spPr>
          <a:xfrm>
            <a:off x="496119" y="2460203"/>
            <a:ext cx="2622724" cy="19050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0"/>
          <p:cNvSpPr/>
          <p:nvPr/>
        </p:nvSpPr>
        <p:spPr>
          <a:xfrm>
            <a:off x="496119" y="256914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Research Mission</a:t>
            </a:r>
            <a:endParaRPr sz="1350" b="0" i="0" u="none" strike="noStrike" cap="none"/>
          </a:p>
        </p:txBody>
      </p:sp>
      <p:sp>
        <p:nvSpPr>
          <p:cNvPr id="292" name="Google Shape;292;p30"/>
          <p:cNvSpPr/>
          <p:nvPr/>
        </p:nvSpPr>
        <p:spPr>
          <a:xfrm>
            <a:off x="496119" y="2875657"/>
            <a:ext cx="2622724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Navigated 5 live e-commerce sites, extracted and ranked 50+ products by price — zero human input.</a:t>
            </a:r>
            <a:endParaRPr sz="1100" b="0" i="0" u="none" strike="noStrike" cap="none"/>
          </a:p>
        </p:txBody>
      </p:sp>
      <p:pic>
        <p:nvPicPr>
          <p:cNvPr id="293" name="Google Shape;293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0601" y="2256011"/>
            <a:ext cx="141759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/>
          <p:nvPr/>
        </p:nvSpPr>
        <p:spPr>
          <a:xfrm>
            <a:off x="3260601" y="2460203"/>
            <a:ext cx="2622724" cy="19050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0"/>
          <p:cNvSpPr/>
          <p:nvPr/>
        </p:nvSpPr>
        <p:spPr>
          <a:xfrm>
            <a:off x="3260601" y="256914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Form Automation</a:t>
            </a:r>
            <a:endParaRPr sz="1350" b="0" i="0" u="none" strike="noStrike" cap="none"/>
          </a:p>
        </p:txBody>
      </p:sp>
      <p:sp>
        <p:nvSpPr>
          <p:cNvPr id="296" name="Google Shape;296;p30"/>
          <p:cNvSpPr/>
          <p:nvPr/>
        </p:nvSpPr>
        <p:spPr>
          <a:xfrm>
            <a:off x="3260601" y="2875657"/>
            <a:ext cx="2622724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Completed a 7-step dynamic registration form including CAPTCHA handling — mission cleared.</a:t>
            </a:r>
            <a:endParaRPr sz="1100" b="0" i="0" u="none" strike="noStrike" cap="none"/>
          </a:p>
        </p:txBody>
      </p:sp>
      <p:pic>
        <p:nvPicPr>
          <p:cNvPr id="297" name="Google Shape;297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5083" y="2256011"/>
            <a:ext cx="141759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0"/>
          <p:cNvSpPr/>
          <p:nvPr/>
        </p:nvSpPr>
        <p:spPr>
          <a:xfrm>
            <a:off x="6025083" y="2460203"/>
            <a:ext cx="2622724" cy="19050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6025083" y="256914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Data Extraction</a:t>
            </a:r>
            <a:endParaRPr sz="1350" b="0" i="0" u="none" strike="noStrike" cap="none"/>
          </a:p>
        </p:txBody>
      </p:sp>
      <p:sp>
        <p:nvSpPr>
          <p:cNvPr id="300" name="Google Shape;300;p30"/>
          <p:cNvSpPr/>
          <p:nvPr/>
        </p:nvSpPr>
        <p:spPr>
          <a:xfrm>
            <a:off x="6025083" y="2875657"/>
            <a:ext cx="2622724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Pulled structured JSON from a React SPA with infinite scroll — no API, no scraper, pure agent intelligence.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/>
          <p:nvPr/>
        </p:nvSpPr>
        <p:spPr>
          <a:xfrm>
            <a:off x="457349" y="393799"/>
            <a:ext cx="1119262" cy="258068"/>
          </a:xfrm>
          <a:prstGeom prst="roundRect">
            <a:avLst>
              <a:gd name="adj" fmla="val 2215"/>
            </a:avLst>
          </a:prstGeom>
          <a:noFill/>
          <a:ln w="9525" cap="flat" cmpd="sng">
            <a:solidFill>
              <a:srgbClr val="8061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1"/>
          <p:cNvSpPr/>
          <p:nvPr/>
        </p:nvSpPr>
        <p:spPr>
          <a:xfrm>
            <a:off x="545232" y="442466"/>
            <a:ext cx="1400696" cy="16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8061FF"/>
              </a:buClr>
              <a:buSzPts val="800"/>
              <a:buFont typeface="Source Sans 3"/>
              <a:buNone/>
            </a:pPr>
            <a:r>
              <a:rPr lang="en-US" sz="800" b="0" i="0" u="none" strike="noStrike" cap="none">
                <a:solidFill>
                  <a:srgbClr val="806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ADVANTAGES</a:t>
            </a:r>
            <a:endParaRPr sz="800" b="0" i="0" u="none" strike="noStrike" cap="none"/>
          </a:p>
        </p:txBody>
      </p:sp>
      <p:sp>
        <p:nvSpPr>
          <p:cNvPr id="308" name="Google Shape;308;p31"/>
          <p:cNvSpPr/>
          <p:nvPr/>
        </p:nvSpPr>
        <p:spPr>
          <a:xfrm>
            <a:off x="457349" y="700013"/>
            <a:ext cx="4332610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2550"/>
              <a:buFont typeface="Lora"/>
              <a:buNone/>
            </a:pPr>
            <a:r>
              <a:rPr lang="en-US" sz="255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Why WebPilot Dominates</a:t>
            </a:r>
            <a:endParaRPr sz="2550" b="0" i="0" u="none" strike="noStrike" cap="none"/>
          </a:p>
        </p:txBody>
      </p:sp>
      <p:pic>
        <p:nvPicPr>
          <p:cNvPr id="309" name="Google Shape;309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349" y="1289075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/>
          <p:nvPr/>
        </p:nvSpPr>
        <p:spPr>
          <a:xfrm>
            <a:off x="457349" y="1766292"/>
            <a:ext cx="1647453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250"/>
              <a:buFont typeface="Lora"/>
              <a:buNone/>
            </a:pPr>
            <a:r>
              <a:rPr lang="en-US" sz="12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Zero API Dependency</a:t>
            </a:r>
            <a:endParaRPr sz="1250" b="0" i="0" u="none" strike="noStrike" cap="none"/>
          </a:p>
        </p:txBody>
      </p:sp>
      <p:sp>
        <p:nvSpPr>
          <p:cNvPr id="311" name="Google Shape;311;p31"/>
          <p:cNvSpPr/>
          <p:nvPr/>
        </p:nvSpPr>
        <p:spPr>
          <a:xfrm>
            <a:off x="457349" y="2042666"/>
            <a:ext cx="4039344" cy="40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Operates on any live website — no custom integrations, no backend access needed</a:t>
            </a:r>
            <a:endParaRPr sz="1000" b="0" i="0" u="none" strike="noStrike" cap="none"/>
          </a:p>
        </p:txBody>
      </p:sp>
      <p:pic>
        <p:nvPicPr>
          <p:cNvPr id="312" name="Google Shape;312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7233" y="1289075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4647233" y="1766292"/>
            <a:ext cx="1738759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250"/>
              <a:buFont typeface="Lora"/>
              <a:buNone/>
            </a:pPr>
            <a:r>
              <a:rPr lang="en-US" sz="12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Self-Healing Execution</a:t>
            </a:r>
            <a:endParaRPr sz="1250" b="0" i="0" u="none" strike="noStrike" cap="none"/>
          </a:p>
        </p:txBody>
      </p:sp>
      <p:sp>
        <p:nvSpPr>
          <p:cNvPr id="314" name="Google Shape;314;p31"/>
          <p:cNvSpPr/>
          <p:nvPr/>
        </p:nvSpPr>
        <p:spPr>
          <a:xfrm>
            <a:off x="4647233" y="2042666"/>
            <a:ext cx="4039419" cy="20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Adapts to DOM changes, pop-ups, and dynamic content in real time</a:t>
            </a:r>
            <a:endParaRPr sz="1000" b="0" i="0" u="none" strike="noStrike" cap="none"/>
          </a:p>
        </p:txBody>
      </p:sp>
      <p:pic>
        <p:nvPicPr>
          <p:cNvPr id="315" name="Google Shape;315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49" y="2685306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/>
          <p:nvPr/>
        </p:nvSpPr>
        <p:spPr>
          <a:xfrm>
            <a:off x="457349" y="3162523"/>
            <a:ext cx="1794123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250"/>
              <a:buFont typeface="Lora"/>
              <a:buNone/>
            </a:pPr>
            <a:r>
              <a:rPr lang="en-US" sz="12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Natural Language Input</a:t>
            </a:r>
            <a:endParaRPr sz="1250" b="0" i="0" u="none" strike="noStrike" cap="none"/>
          </a:p>
        </p:txBody>
      </p:sp>
      <p:sp>
        <p:nvSpPr>
          <p:cNvPr id="317" name="Google Shape;317;p31"/>
          <p:cNvSpPr/>
          <p:nvPr/>
        </p:nvSpPr>
        <p:spPr>
          <a:xfrm>
            <a:off x="457349" y="3438897"/>
            <a:ext cx="4039344" cy="20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Plain English task statements — no scripting, no XPath, no CSS selectors</a:t>
            </a:r>
            <a:endParaRPr sz="1000" b="0" i="0" u="none" strike="noStrike" cap="none"/>
          </a:p>
        </p:txBody>
      </p:sp>
      <p:pic>
        <p:nvPicPr>
          <p:cNvPr id="318" name="Google Shape;318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47233" y="2685306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1"/>
          <p:cNvSpPr/>
          <p:nvPr/>
        </p:nvSpPr>
        <p:spPr>
          <a:xfrm>
            <a:off x="4647233" y="3162523"/>
            <a:ext cx="1930673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250"/>
              <a:buFont typeface="Lora"/>
              <a:buNone/>
            </a:pPr>
            <a:r>
              <a:rPr lang="en-US" sz="12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Multi-Step Orchestration</a:t>
            </a:r>
            <a:endParaRPr sz="1250" b="0" i="0" u="none" strike="noStrike" cap="none"/>
          </a:p>
        </p:txBody>
      </p:sp>
      <p:sp>
        <p:nvSpPr>
          <p:cNvPr id="320" name="Google Shape;320;p31"/>
          <p:cNvSpPr/>
          <p:nvPr/>
        </p:nvSpPr>
        <p:spPr>
          <a:xfrm>
            <a:off x="4647233" y="3438897"/>
            <a:ext cx="4039419" cy="40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ource Sans 3"/>
              <a:buNone/>
            </a:pPr>
            <a:r>
              <a:rPr lang="en-US" sz="10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Plans, executes, and validates complex workflows end-to-end autonomously</a:t>
            </a:r>
            <a:endParaRPr sz="1000" b="0" i="0" u="none" strike="noStrike" cap="none"/>
          </a:p>
        </p:txBody>
      </p:sp>
      <p:pic>
        <p:nvPicPr>
          <p:cNvPr id="321" name="Google Shape;321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349" y="3976092"/>
            <a:ext cx="8229302" cy="740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/>
          <p:nvPr/>
        </p:nvSpPr>
        <p:spPr>
          <a:xfrm>
            <a:off x="426393" y="357783"/>
            <a:ext cx="654918" cy="218033"/>
          </a:xfrm>
          <a:prstGeom prst="roundRect">
            <a:avLst>
              <a:gd name="adj" fmla="val 2621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2"/>
          <p:cNvSpPr/>
          <p:nvPr/>
        </p:nvSpPr>
        <p:spPr>
          <a:xfrm>
            <a:off x="499467" y="394320"/>
            <a:ext cx="965969" cy="144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ource Sans 3"/>
              <a:buNone/>
            </a:pPr>
            <a:r>
              <a:rPr lang="en-US" sz="7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ROADMAP ]</a:t>
            </a:r>
            <a:endParaRPr sz="750" b="0" i="0" u="none" strike="noStrike" cap="none"/>
          </a:p>
        </p:txBody>
      </p:sp>
      <p:sp>
        <p:nvSpPr>
          <p:cNvPr id="329" name="Google Shape;329;p32"/>
          <p:cNvSpPr/>
          <p:nvPr/>
        </p:nvSpPr>
        <p:spPr>
          <a:xfrm>
            <a:off x="426393" y="617637"/>
            <a:ext cx="3631034" cy="38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2350"/>
              <a:buFont typeface="Lora"/>
              <a:buNone/>
            </a:pPr>
            <a:r>
              <a:rPr lang="en-US" sz="235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System Evolution Path</a:t>
            </a:r>
            <a:endParaRPr sz="2350" b="0" i="0" u="none" strike="noStrike" cap="none"/>
          </a:p>
        </p:txBody>
      </p:sp>
      <p:sp>
        <p:nvSpPr>
          <p:cNvPr id="330" name="Google Shape;330;p32"/>
          <p:cNvSpPr/>
          <p:nvPr/>
        </p:nvSpPr>
        <p:spPr>
          <a:xfrm>
            <a:off x="426393" y="1155353"/>
            <a:ext cx="8291215" cy="476101"/>
          </a:xfrm>
          <a:prstGeom prst="roundRect">
            <a:avLst>
              <a:gd name="adj" fmla="val 1200"/>
            </a:avLst>
          </a:prstGeom>
          <a:solidFill>
            <a:srgbClr val="0223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1" name="Google Shape;331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208" y="1329556"/>
            <a:ext cx="152251" cy="12181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2"/>
          <p:cNvSpPr/>
          <p:nvPr/>
        </p:nvSpPr>
        <p:spPr>
          <a:xfrm>
            <a:off x="822275" y="1290414"/>
            <a:ext cx="8230716" cy="18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Source Sans 3"/>
              <a:buNone/>
            </a:pPr>
            <a:r>
              <a:rPr lang="en-US" sz="95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📜</a:t>
            </a:r>
            <a:r>
              <a:rPr lang="en-US" sz="9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50" b="1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SYSTEM ]</a:t>
            </a:r>
            <a:r>
              <a:rPr lang="en-US" sz="950" b="0" i="0" u="none" strike="noStrike" cap="non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Shadow Monarch's power grows with each phase. Each evolution unlocks new dungeon tiers.</a:t>
            </a:r>
            <a:endParaRPr sz="950" b="0" i="0" u="none" strike="noStrike" cap="none"/>
          </a:p>
        </p:txBody>
      </p:sp>
      <p:sp>
        <p:nvSpPr>
          <p:cNvPr id="333" name="Google Shape;333;p32"/>
          <p:cNvSpPr/>
          <p:nvPr/>
        </p:nvSpPr>
        <p:spPr>
          <a:xfrm>
            <a:off x="426393" y="2851993"/>
            <a:ext cx="8291215" cy="14288"/>
          </a:xfrm>
          <a:prstGeom prst="roundRect">
            <a:avLst>
              <a:gd name="adj" fmla="val 39999"/>
            </a:avLst>
          </a:prstGeom>
          <a:solidFill>
            <a:srgbClr val="444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2"/>
          <p:cNvSpPr/>
          <p:nvPr/>
        </p:nvSpPr>
        <p:spPr>
          <a:xfrm>
            <a:off x="2038127" y="2486583"/>
            <a:ext cx="14288" cy="365447"/>
          </a:xfrm>
          <a:prstGeom prst="roundRect">
            <a:avLst>
              <a:gd name="adj" fmla="val 39999"/>
            </a:avLst>
          </a:prstGeom>
          <a:solidFill>
            <a:srgbClr val="444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2"/>
          <p:cNvSpPr/>
          <p:nvPr/>
        </p:nvSpPr>
        <p:spPr>
          <a:xfrm>
            <a:off x="1908274" y="2714960"/>
            <a:ext cx="274067" cy="274067"/>
          </a:xfrm>
          <a:prstGeom prst="roundRect">
            <a:avLst>
              <a:gd name="adj" fmla="val 2085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1953927" y="2737768"/>
            <a:ext cx="182687" cy="2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400"/>
              <a:buFont typeface="Lora"/>
              <a:buNone/>
            </a:pPr>
            <a:r>
              <a:rPr lang="en-US" sz="140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1400" b="0" i="0" u="none" strike="noStrike" cap="none"/>
          </a:p>
        </p:txBody>
      </p:sp>
      <p:sp>
        <p:nvSpPr>
          <p:cNvPr id="337" name="Google Shape;337;p32"/>
          <p:cNvSpPr/>
          <p:nvPr/>
        </p:nvSpPr>
        <p:spPr>
          <a:xfrm>
            <a:off x="1102593" y="1749177"/>
            <a:ext cx="1885504" cy="19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Phase 1 — Build Hackathon</a:t>
            </a:r>
            <a:endParaRPr sz="1150" b="0" i="0" u="none" strike="noStrike" cap="none"/>
          </a:p>
        </p:txBody>
      </p:sp>
      <p:sp>
        <p:nvSpPr>
          <p:cNvPr id="338" name="Google Shape;338;p32"/>
          <p:cNvSpPr/>
          <p:nvPr/>
        </p:nvSpPr>
        <p:spPr>
          <a:xfrm>
            <a:off x="548208" y="2002334"/>
            <a:ext cx="2994347" cy="36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ource Sans 3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Core autonomous navigation, form-fills, and extraction live on Build AI Arena</a:t>
            </a:r>
            <a:endParaRPr sz="950" b="0" i="0" u="none" strike="noStrike" cap="none"/>
          </a:p>
        </p:txBody>
      </p:sp>
      <p:sp>
        <p:nvSpPr>
          <p:cNvPr id="339" name="Google Shape;339;p32"/>
          <p:cNvSpPr/>
          <p:nvPr/>
        </p:nvSpPr>
        <p:spPr>
          <a:xfrm>
            <a:off x="3722489" y="2851956"/>
            <a:ext cx="14288" cy="365447"/>
          </a:xfrm>
          <a:prstGeom prst="roundRect">
            <a:avLst>
              <a:gd name="adj" fmla="val 39999"/>
            </a:avLst>
          </a:prstGeom>
          <a:solidFill>
            <a:srgbClr val="444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2"/>
          <p:cNvSpPr/>
          <p:nvPr/>
        </p:nvSpPr>
        <p:spPr>
          <a:xfrm>
            <a:off x="3592637" y="2714960"/>
            <a:ext cx="274067" cy="274067"/>
          </a:xfrm>
          <a:prstGeom prst="roundRect">
            <a:avLst>
              <a:gd name="adj" fmla="val 2085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2"/>
          <p:cNvSpPr/>
          <p:nvPr/>
        </p:nvSpPr>
        <p:spPr>
          <a:xfrm>
            <a:off x="3638290" y="2737768"/>
            <a:ext cx="182687" cy="2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400"/>
              <a:buFont typeface="Lora"/>
              <a:buNone/>
            </a:pPr>
            <a:r>
              <a:rPr lang="en-US" sz="140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1400" b="0" i="0" u="none" strike="noStrike" cap="none"/>
          </a:p>
        </p:txBody>
      </p:sp>
      <p:sp>
        <p:nvSpPr>
          <p:cNvPr id="342" name="Google Shape;342;p32"/>
          <p:cNvSpPr/>
          <p:nvPr/>
        </p:nvSpPr>
        <p:spPr>
          <a:xfrm>
            <a:off x="2603302" y="3339257"/>
            <a:ext cx="2252886" cy="19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Phase 2 — Multi-Tab Parallelism</a:t>
            </a:r>
            <a:endParaRPr sz="1150" b="0" i="0" u="none" strike="noStrike" cap="none"/>
          </a:p>
        </p:txBody>
      </p:sp>
      <p:sp>
        <p:nvSpPr>
          <p:cNvPr id="343" name="Google Shape;343;p32"/>
          <p:cNvSpPr/>
          <p:nvPr/>
        </p:nvSpPr>
        <p:spPr>
          <a:xfrm>
            <a:off x="2232571" y="3592413"/>
            <a:ext cx="2994347" cy="36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ource Sans 3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Concurrent browser contexts for parallel task execution at scale</a:t>
            </a:r>
            <a:endParaRPr sz="950" b="0" i="0" u="none" strike="noStrike" cap="none"/>
          </a:p>
        </p:txBody>
      </p:sp>
      <p:sp>
        <p:nvSpPr>
          <p:cNvPr id="344" name="Google Shape;344;p32"/>
          <p:cNvSpPr/>
          <p:nvPr/>
        </p:nvSpPr>
        <p:spPr>
          <a:xfrm>
            <a:off x="5406926" y="2486583"/>
            <a:ext cx="14288" cy="365447"/>
          </a:xfrm>
          <a:prstGeom prst="roundRect">
            <a:avLst>
              <a:gd name="adj" fmla="val 39999"/>
            </a:avLst>
          </a:prstGeom>
          <a:solidFill>
            <a:srgbClr val="444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2"/>
          <p:cNvSpPr/>
          <p:nvPr/>
        </p:nvSpPr>
        <p:spPr>
          <a:xfrm>
            <a:off x="5277073" y="2714960"/>
            <a:ext cx="274067" cy="274067"/>
          </a:xfrm>
          <a:prstGeom prst="roundRect">
            <a:avLst>
              <a:gd name="adj" fmla="val 2085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2"/>
          <p:cNvSpPr/>
          <p:nvPr/>
        </p:nvSpPr>
        <p:spPr>
          <a:xfrm>
            <a:off x="5322726" y="2737768"/>
            <a:ext cx="182687" cy="2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400"/>
              <a:buFont typeface="Lora"/>
              <a:buNone/>
            </a:pPr>
            <a:r>
              <a:rPr lang="en-US" sz="140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1400" b="0" i="0" u="none" strike="noStrike" cap="none"/>
          </a:p>
        </p:txBody>
      </p:sp>
      <p:sp>
        <p:nvSpPr>
          <p:cNvPr id="347" name="Google Shape;347;p32"/>
          <p:cNvSpPr/>
          <p:nvPr/>
        </p:nvSpPr>
        <p:spPr>
          <a:xfrm>
            <a:off x="4240188" y="1749177"/>
            <a:ext cx="2347913" cy="19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Phase 3 — Memory &amp; Persistence</a:t>
            </a:r>
            <a:endParaRPr sz="1150" b="0" i="0" u="none" strike="noStrike" cap="none"/>
          </a:p>
        </p:txBody>
      </p:sp>
      <p:sp>
        <p:nvSpPr>
          <p:cNvPr id="348" name="Google Shape;348;p32"/>
          <p:cNvSpPr/>
          <p:nvPr/>
        </p:nvSpPr>
        <p:spPr>
          <a:xfrm>
            <a:off x="3917007" y="2002334"/>
            <a:ext cx="2994347" cy="36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ource Sans 3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Long-term session memory for complex, multi-day workflow missions</a:t>
            </a:r>
            <a:endParaRPr sz="950" b="0" i="0" u="none" strike="noStrike" cap="none"/>
          </a:p>
        </p:txBody>
      </p:sp>
      <p:sp>
        <p:nvSpPr>
          <p:cNvPr id="349" name="Google Shape;349;p32"/>
          <p:cNvSpPr/>
          <p:nvPr/>
        </p:nvSpPr>
        <p:spPr>
          <a:xfrm>
            <a:off x="7091288" y="2851956"/>
            <a:ext cx="14288" cy="365447"/>
          </a:xfrm>
          <a:prstGeom prst="roundRect">
            <a:avLst>
              <a:gd name="adj" fmla="val 39999"/>
            </a:avLst>
          </a:prstGeom>
          <a:solidFill>
            <a:srgbClr val="444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6961436" y="2714960"/>
            <a:ext cx="274067" cy="274067"/>
          </a:xfrm>
          <a:prstGeom prst="roundRect">
            <a:avLst>
              <a:gd name="adj" fmla="val 2085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7007089" y="2737768"/>
            <a:ext cx="182687" cy="2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400"/>
              <a:buFont typeface="Lora"/>
              <a:buNone/>
            </a:pPr>
            <a:r>
              <a:rPr lang="en-US" sz="140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sz="1400" b="0" i="0" u="none" strike="noStrike" cap="none"/>
          </a:p>
        </p:txBody>
      </p:sp>
      <p:sp>
        <p:nvSpPr>
          <p:cNvPr id="352" name="Google Shape;352;p32"/>
          <p:cNvSpPr/>
          <p:nvPr/>
        </p:nvSpPr>
        <p:spPr>
          <a:xfrm>
            <a:off x="5996434" y="3339257"/>
            <a:ext cx="2204219" cy="19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Phase 4 — Enterprise API Layer</a:t>
            </a:r>
            <a:endParaRPr sz="1150" b="0" i="0" u="none" strike="noStrike" cap="none"/>
          </a:p>
        </p:txBody>
      </p:sp>
      <p:sp>
        <p:nvSpPr>
          <p:cNvPr id="353" name="Google Shape;353;p32"/>
          <p:cNvSpPr/>
          <p:nvPr/>
        </p:nvSpPr>
        <p:spPr>
          <a:xfrm>
            <a:off x="5601370" y="3592413"/>
            <a:ext cx="2994347" cy="36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ource Sans 3"/>
              <a:buNone/>
            </a:pPr>
            <a:r>
              <a:rPr lang="en-US" sz="9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RESTful wrapper + webhook triggers for production system integration</a:t>
            </a:r>
            <a:endParaRPr sz="950" b="0" i="0" u="none" strike="noStrike" cap="none"/>
          </a:p>
        </p:txBody>
      </p:sp>
      <p:pic>
        <p:nvPicPr>
          <p:cNvPr id="354" name="Google Shape;354;p3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393" y="4072533"/>
            <a:ext cx="8291215" cy="6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496119" y="1373535"/>
            <a:ext cx="1437903" cy="266402"/>
          </a:xfrm>
          <a:prstGeom prst="roundRect">
            <a:avLst>
              <a:gd name="adj" fmla="val 214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3"/>
          <p:cNvSpPr/>
          <p:nvPr/>
        </p:nvSpPr>
        <p:spPr>
          <a:xfrm>
            <a:off x="581174" y="1416025"/>
            <a:ext cx="1724992" cy="18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Source Sans 3"/>
              <a:buNone/>
            </a:pPr>
            <a:r>
              <a:rPr lang="en-US" sz="8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PHASE STATUS WINDOW ]</a:t>
            </a:r>
            <a:endParaRPr sz="850" b="0" i="0" u="none" strike="noStrike" cap="none"/>
          </a:p>
        </p:txBody>
      </p:sp>
      <p:sp>
        <p:nvSpPr>
          <p:cNvPr id="362" name="Google Shape;362;p33"/>
          <p:cNvSpPr/>
          <p:nvPr/>
        </p:nvSpPr>
        <p:spPr>
          <a:xfrm>
            <a:off x="496119" y="1696641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Current Phase Intel</a:t>
            </a:r>
            <a:endParaRPr sz="1350" b="0" i="0" u="none" strike="noStrike" cap="none"/>
          </a:p>
        </p:txBody>
      </p:sp>
      <p:sp>
        <p:nvSpPr>
          <p:cNvPr id="363" name="Google Shape;363;p33"/>
          <p:cNvSpPr/>
          <p:nvPr/>
        </p:nvSpPr>
        <p:spPr>
          <a:xfrm>
            <a:off x="496119" y="2130698"/>
            <a:ext cx="1931566" cy="1639267"/>
          </a:xfrm>
          <a:prstGeom prst="roundRect">
            <a:avLst>
              <a:gd name="adj" fmla="val 349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652165" y="228674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5" name="Google Shape;365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144" y="2403649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/>
          <p:nvPr/>
        </p:nvSpPr>
        <p:spPr>
          <a:xfrm>
            <a:off x="652165" y="2853779"/>
            <a:ext cx="161947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Phase 1</a:t>
            </a:r>
            <a:endParaRPr sz="1350" b="0" i="0" u="none" strike="noStrike" cap="none"/>
          </a:p>
        </p:txBody>
      </p:sp>
      <p:sp>
        <p:nvSpPr>
          <p:cNvPr id="367" name="Google Shape;367;p33"/>
          <p:cNvSpPr/>
          <p:nvPr/>
        </p:nvSpPr>
        <p:spPr>
          <a:xfrm>
            <a:off x="652165" y="3160291"/>
            <a:ext cx="161947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FCEC99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ACTIVE</a:t>
            </a: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Hackathon deployment underway</a:t>
            </a:r>
            <a:endParaRPr sz="1100" b="0" i="0" u="none" strike="noStrike" cap="none"/>
          </a:p>
        </p:txBody>
      </p:sp>
      <p:sp>
        <p:nvSpPr>
          <p:cNvPr id="368" name="Google Shape;368;p33"/>
          <p:cNvSpPr/>
          <p:nvPr/>
        </p:nvSpPr>
        <p:spPr>
          <a:xfrm>
            <a:off x="2569443" y="2130698"/>
            <a:ext cx="1931640" cy="1639267"/>
          </a:xfrm>
          <a:prstGeom prst="roundRect">
            <a:avLst>
              <a:gd name="adj" fmla="val 349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3"/>
          <p:cNvSpPr/>
          <p:nvPr/>
        </p:nvSpPr>
        <p:spPr>
          <a:xfrm>
            <a:off x="2725489" y="228674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0" name="Google Shape;370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42468" y="2403649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3"/>
          <p:cNvSpPr/>
          <p:nvPr/>
        </p:nvSpPr>
        <p:spPr>
          <a:xfrm>
            <a:off x="2725489" y="2853779"/>
            <a:ext cx="161954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Phase 2</a:t>
            </a:r>
            <a:endParaRPr sz="1350" b="0" i="0" u="none" strike="noStrike" cap="none"/>
          </a:p>
        </p:txBody>
      </p:sp>
      <p:sp>
        <p:nvSpPr>
          <p:cNvPr id="372" name="Google Shape;372;p33"/>
          <p:cNvSpPr/>
          <p:nvPr/>
        </p:nvSpPr>
        <p:spPr>
          <a:xfrm>
            <a:off x="2725489" y="3160291"/>
            <a:ext cx="1619548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BAB6AA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LOCKED</a:t>
            </a: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Multi-tab parallelism queued</a:t>
            </a:r>
            <a:endParaRPr sz="1100" b="0" i="0" u="none" strike="noStrike" cap="none"/>
          </a:p>
        </p:txBody>
      </p:sp>
      <p:sp>
        <p:nvSpPr>
          <p:cNvPr id="373" name="Google Shape;373;p33"/>
          <p:cNvSpPr/>
          <p:nvPr/>
        </p:nvSpPr>
        <p:spPr>
          <a:xfrm>
            <a:off x="4642842" y="2130698"/>
            <a:ext cx="1931640" cy="1639267"/>
          </a:xfrm>
          <a:prstGeom prst="roundRect">
            <a:avLst>
              <a:gd name="adj" fmla="val 349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4798888" y="228674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3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15867" y="2403649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3"/>
          <p:cNvSpPr/>
          <p:nvPr/>
        </p:nvSpPr>
        <p:spPr>
          <a:xfrm>
            <a:off x="4798888" y="2853779"/>
            <a:ext cx="161954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Phase 3</a:t>
            </a:r>
            <a:endParaRPr sz="1350" b="0" i="0" u="none" strike="noStrike" cap="none"/>
          </a:p>
        </p:txBody>
      </p:sp>
      <p:sp>
        <p:nvSpPr>
          <p:cNvPr id="377" name="Google Shape;377;p33"/>
          <p:cNvSpPr/>
          <p:nvPr/>
        </p:nvSpPr>
        <p:spPr>
          <a:xfrm>
            <a:off x="4798888" y="3160291"/>
            <a:ext cx="1619548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BAB6AA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LOCKED</a:t>
            </a: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Persistent memory research ongoing</a:t>
            </a:r>
            <a:endParaRPr sz="1100" b="0" i="0" u="none" strike="noStrike" cap="none"/>
          </a:p>
        </p:txBody>
      </p:sp>
      <p:sp>
        <p:nvSpPr>
          <p:cNvPr id="378" name="Google Shape;378;p33"/>
          <p:cNvSpPr/>
          <p:nvPr/>
        </p:nvSpPr>
        <p:spPr>
          <a:xfrm>
            <a:off x="6716241" y="2130698"/>
            <a:ext cx="1931640" cy="1639267"/>
          </a:xfrm>
          <a:prstGeom prst="roundRect">
            <a:avLst>
              <a:gd name="adj" fmla="val 349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3"/>
          <p:cNvSpPr/>
          <p:nvPr/>
        </p:nvSpPr>
        <p:spPr>
          <a:xfrm>
            <a:off x="6872288" y="228674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0" name="Google Shape;380;p3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89266" y="2403649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/>
          <p:nvPr/>
        </p:nvSpPr>
        <p:spPr>
          <a:xfrm>
            <a:off x="6872288" y="2853779"/>
            <a:ext cx="161954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350"/>
              <a:buFont typeface="Lora"/>
              <a:buNone/>
            </a:pPr>
            <a:r>
              <a:rPr lang="en-US" sz="13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Phase 4</a:t>
            </a:r>
            <a:endParaRPr sz="1350" b="0" i="0" u="none" strike="noStrike" cap="none"/>
          </a:p>
        </p:txBody>
      </p:sp>
      <p:sp>
        <p:nvSpPr>
          <p:cNvPr id="382" name="Google Shape;382;p33"/>
          <p:cNvSpPr/>
          <p:nvPr/>
        </p:nvSpPr>
        <p:spPr>
          <a:xfrm>
            <a:off x="6872288" y="3160291"/>
            <a:ext cx="1619548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BAB6AA"/>
              </a:buClr>
              <a:buSzPts val="1100"/>
              <a:buFont typeface="Source Sans 3"/>
              <a:buNone/>
            </a:pPr>
            <a:r>
              <a:rPr lang="en-US" sz="1100" b="0" i="0" u="none" strike="noStrike" cap="none">
                <a:solidFill>
                  <a:srgbClr val="BAB6AA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LOCKED</a:t>
            </a:r>
            <a:r>
              <a:rPr lang="en-US" sz="11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Enterprise layer in design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4"/>
          <p:cNvSpPr/>
          <p:nvPr/>
        </p:nvSpPr>
        <p:spPr>
          <a:xfrm>
            <a:off x="418654" y="363810"/>
            <a:ext cx="972294" cy="212824"/>
          </a:xfrm>
          <a:prstGeom prst="roundRect">
            <a:avLst>
              <a:gd name="adj" fmla="val 2685"/>
            </a:avLst>
          </a:prstGeom>
          <a:solidFill>
            <a:srgbClr val="0F0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490389" y="399678"/>
            <a:ext cx="1286024" cy="141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ource Sans 3"/>
              <a:buNone/>
            </a:pPr>
            <a:r>
              <a:rPr lang="en-US" sz="75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QUEST COMPLETE ]</a:t>
            </a:r>
            <a:endParaRPr sz="750" b="0" i="0" u="none" strike="noStrike" cap="none"/>
          </a:p>
        </p:txBody>
      </p:sp>
      <p:sp>
        <p:nvSpPr>
          <p:cNvPr id="391" name="Google Shape;391;p34"/>
          <p:cNvSpPr/>
          <p:nvPr/>
        </p:nvSpPr>
        <p:spPr>
          <a:xfrm>
            <a:off x="418654" y="616967"/>
            <a:ext cx="4583906" cy="51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CEC99"/>
              </a:buClr>
              <a:buSzPts val="3200"/>
              <a:buFont typeface="Lora"/>
              <a:buNone/>
            </a:pPr>
            <a:r>
              <a:rPr lang="en-US" sz="3200" b="0" i="0" u="none" strike="noStrike" cap="none">
                <a:solidFill>
                  <a:srgbClr val="FCEC99"/>
                </a:solidFill>
                <a:latin typeface="Lora"/>
                <a:ea typeface="Lora"/>
                <a:cs typeface="Lora"/>
                <a:sym typeface="Lora"/>
              </a:rPr>
              <a:t>WEB PILOT</a:t>
            </a:r>
            <a:endParaRPr sz="3200" b="0" i="0" u="none" strike="noStrike" cap="none"/>
          </a:p>
        </p:txBody>
      </p:sp>
      <p:sp>
        <p:nvSpPr>
          <p:cNvPr id="392" name="Google Shape;392;p34"/>
          <p:cNvSpPr/>
          <p:nvPr/>
        </p:nvSpPr>
        <p:spPr>
          <a:xfrm>
            <a:off x="418654" y="1284163"/>
            <a:ext cx="5313238" cy="37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Lora"/>
              <a:buNone/>
            </a:pPr>
            <a:r>
              <a:rPr lang="en-US" sz="2350" b="0" i="0" u="none" strike="noStrike" cap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System Awaits Your Command</a:t>
            </a:r>
            <a:endParaRPr sz="2350" b="0" i="0" u="none" strike="noStrike" cap="none"/>
          </a:p>
        </p:txBody>
      </p:sp>
      <p:sp>
        <p:nvSpPr>
          <p:cNvPr id="393" name="Google Shape;393;p34"/>
          <p:cNvSpPr/>
          <p:nvPr/>
        </p:nvSpPr>
        <p:spPr>
          <a:xfrm>
            <a:off x="598066" y="1922785"/>
            <a:ext cx="4698281" cy="357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Source Sans 3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📢</a:t>
            </a:r>
            <a:r>
              <a:rPr lang="en-US" sz="9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00" b="1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 SYSTEM ]</a:t>
            </a:r>
            <a:r>
              <a:rPr lang="en-US" sz="9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Congratulations. You have cleared the dungeon. The S-Rank agent stands ready. Issue your command.</a:t>
            </a:r>
            <a:endParaRPr sz="900" b="0" i="0" u="none" strike="noStrike" cap="none"/>
          </a:p>
        </p:txBody>
      </p:sp>
      <p:sp>
        <p:nvSpPr>
          <p:cNvPr id="394" name="Google Shape;394;p34"/>
          <p:cNvSpPr/>
          <p:nvPr/>
        </p:nvSpPr>
        <p:spPr>
          <a:xfrm>
            <a:off x="418654" y="1809304"/>
            <a:ext cx="14288" cy="584448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418654" y="2507233"/>
            <a:ext cx="5334893" cy="176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2DED0"/>
              </a:buClr>
              <a:buSzPts val="900"/>
              <a:buFont typeface="Source Sans 3"/>
              <a:buNone/>
            </a:pPr>
            <a:r>
              <a:rPr lang="en-US" sz="900" b="0" i="0" u="none" strike="noStrike" cap="none">
                <a:solidFill>
                  <a:srgbClr val="F2DED0"/>
                </a:solidFill>
                <a:latin typeface="Source Sans 3"/>
                <a:ea typeface="Source Sans 3"/>
                <a:cs typeface="Source Sans 3"/>
                <a:sym typeface="Source Sans 3"/>
              </a:rPr>
              <a:t>Microsoft Build AI Hackathon 2026</a:t>
            </a:r>
            <a:r>
              <a:rPr lang="en-US" sz="9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 · </a:t>
            </a:r>
            <a:r>
              <a:rPr lang="en-US" sz="900" b="1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900" b="1" i="0" u="none" strike="noStrike" cap="none">
                <a:solidFill>
                  <a:srgbClr val="BAB6AA"/>
                </a:solidFill>
                <a:latin typeface="Source Sans 3"/>
                <a:ea typeface="Source Sans 3"/>
                <a:cs typeface="Source Sans 3"/>
                <a:sym typeface="Source Sans 3"/>
              </a:rPr>
              <a:t>Nishchal Soni &amp; Kuldeep Parmar</a:t>
            </a:r>
            <a:endParaRPr sz="900" b="0" i="0" u="none" strike="noStrike" cap="none"/>
          </a:p>
        </p:txBody>
      </p:sp>
      <p:sp>
        <p:nvSpPr>
          <p:cNvPr id="396" name="Google Shape;396;p34"/>
          <p:cNvSpPr/>
          <p:nvPr/>
        </p:nvSpPr>
        <p:spPr>
          <a:xfrm>
            <a:off x="418654" y="2797076"/>
            <a:ext cx="4877693" cy="1540222"/>
          </a:xfrm>
          <a:prstGeom prst="roundRect">
            <a:avLst>
              <a:gd name="adj" fmla="val 371"/>
            </a:avLst>
          </a:prstGeom>
          <a:solidFill>
            <a:srgbClr val="2B2952"/>
          </a:solidFill>
          <a:ln w="14275" cap="flat" cmpd="sng">
            <a:solidFill>
              <a:srgbClr val="444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4"/>
          <p:cNvSpPr/>
          <p:nvPr/>
        </p:nvSpPr>
        <p:spPr>
          <a:xfrm>
            <a:off x="432941" y="2811363"/>
            <a:ext cx="2424559" cy="844004"/>
          </a:xfrm>
          <a:prstGeom prst="roundRect">
            <a:avLst>
              <a:gd name="adj" fmla="val 677"/>
            </a:avLst>
          </a:prstGeom>
          <a:solidFill>
            <a:srgbClr val="2B29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4"/>
          <p:cNvSpPr/>
          <p:nvPr/>
        </p:nvSpPr>
        <p:spPr>
          <a:xfrm>
            <a:off x="552524" y="2930947"/>
            <a:ext cx="1495202" cy="191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📂</a:t>
            </a: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 GitHub Repo</a:t>
            </a:r>
            <a:endParaRPr sz="1150" b="0" i="0" u="none" strike="noStrike" cap="none"/>
          </a:p>
        </p:txBody>
      </p:sp>
      <p:sp>
        <p:nvSpPr>
          <p:cNvPr id="399" name="Google Shape;399;p34"/>
          <p:cNvSpPr/>
          <p:nvPr/>
        </p:nvSpPr>
        <p:spPr>
          <a:xfrm>
            <a:off x="552524" y="3183062"/>
            <a:ext cx="2185392" cy="176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Source Sans 3"/>
              <a:buNone/>
            </a:pPr>
            <a:r>
              <a:rPr lang="en-US" sz="9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Full source, docs &amp; deployment guide</a:t>
            </a:r>
            <a:endParaRPr sz="900" b="0" i="0" u="none" strike="noStrike" cap="none"/>
          </a:p>
        </p:txBody>
      </p:sp>
      <p:sp>
        <p:nvSpPr>
          <p:cNvPr id="400" name="Google Shape;400;p34"/>
          <p:cNvSpPr/>
          <p:nvPr/>
        </p:nvSpPr>
        <p:spPr>
          <a:xfrm>
            <a:off x="2857500" y="2811363"/>
            <a:ext cx="2424559" cy="844004"/>
          </a:xfrm>
          <a:prstGeom prst="rect">
            <a:avLst/>
          </a:prstGeom>
          <a:solidFill>
            <a:srgbClr val="2B29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2857500" y="2811363"/>
            <a:ext cx="14288" cy="844004"/>
          </a:xfrm>
          <a:prstGeom prst="roundRect">
            <a:avLst>
              <a:gd name="adj" fmla="val 39999"/>
            </a:avLst>
          </a:prstGeom>
          <a:solidFill>
            <a:srgbClr val="444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4"/>
          <p:cNvSpPr/>
          <p:nvPr/>
        </p:nvSpPr>
        <p:spPr>
          <a:xfrm>
            <a:off x="2977083" y="2930947"/>
            <a:ext cx="1495202" cy="191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🎥</a:t>
            </a: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 Live Demo</a:t>
            </a:r>
            <a:endParaRPr sz="1150" b="0" i="0" u="none" strike="noStrike" cap="none"/>
          </a:p>
        </p:txBody>
      </p:sp>
      <p:sp>
        <p:nvSpPr>
          <p:cNvPr id="403" name="Google Shape;403;p34"/>
          <p:cNvSpPr/>
          <p:nvPr/>
        </p:nvSpPr>
        <p:spPr>
          <a:xfrm>
            <a:off x="2977083" y="3183062"/>
            <a:ext cx="2185392" cy="352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Source Sans 3"/>
              <a:buNone/>
            </a:pPr>
            <a:r>
              <a:rPr lang="en-US" sz="9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autonomous web mission execution</a:t>
            </a:r>
            <a:endParaRPr sz="900" b="0" i="0" u="none" strike="noStrike" cap="none"/>
          </a:p>
        </p:txBody>
      </p:sp>
      <p:sp>
        <p:nvSpPr>
          <p:cNvPr id="404" name="Google Shape;404;p34"/>
          <p:cNvSpPr/>
          <p:nvPr/>
        </p:nvSpPr>
        <p:spPr>
          <a:xfrm>
            <a:off x="432941" y="3655368"/>
            <a:ext cx="4849118" cy="667643"/>
          </a:xfrm>
          <a:prstGeom prst="rect">
            <a:avLst/>
          </a:prstGeom>
          <a:solidFill>
            <a:srgbClr val="2B29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4"/>
          <p:cNvSpPr/>
          <p:nvPr/>
        </p:nvSpPr>
        <p:spPr>
          <a:xfrm>
            <a:off x="432941" y="3655368"/>
            <a:ext cx="4849118" cy="14288"/>
          </a:xfrm>
          <a:prstGeom prst="roundRect">
            <a:avLst>
              <a:gd name="adj" fmla="val 39999"/>
            </a:avLst>
          </a:prstGeom>
          <a:solidFill>
            <a:srgbClr val="444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4"/>
          <p:cNvSpPr/>
          <p:nvPr/>
        </p:nvSpPr>
        <p:spPr>
          <a:xfrm>
            <a:off x="552524" y="3774951"/>
            <a:ext cx="1495202" cy="191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Lora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📬</a:t>
            </a:r>
            <a:r>
              <a:rPr lang="en-US" sz="1150" b="0" i="0" u="none" strike="noStrike" cap="none">
                <a:solidFill>
                  <a:srgbClr val="D9E1FF"/>
                </a:solidFill>
                <a:latin typeface="Lora"/>
                <a:ea typeface="Lora"/>
                <a:cs typeface="Lora"/>
                <a:sym typeface="Lora"/>
              </a:rPr>
              <a:t> Contact</a:t>
            </a:r>
            <a:endParaRPr sz="1150" b="0" i="0" u="none" strike="noStrike" cap="none"/>
          </a:p>
        </p:txBody>
      </p:sp>
      <p:sp>
        <p:nvSpPr>
          <p:cNvPr id="407" name="Google Shape;407;p34"/>
          <p:cNvSpPr/>
          <p:nvPr/>
        </p:nvSpPr>
        <p:spPr>
          <a:xfrm>
            <a:off x="552524" y="4027066"/>
            <a:ext cx="4609951" cy="176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Source Sans 3"/>
              <a:buNone/>
            </a:pPr>
            <a:r>
              <a:rPr lang="en-US" sz="900" b="0" i="0" u="none" strike="noStrike" cap="none">
                <a:solidFill>
                  <a:srgbClr val="D9E1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Ready for questions, collaboration &amp; next-level quests</a:t>
            </a:r>
            <a:endParaRPr sz="90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On-screen Show (16:9)</PresentationFormat>
  <Paragraphs>181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Lora</vt:lpstr>
      <vt:lpstr>Calibri</vt:lpstr>
      <vt:lpstr>Consolas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Yuvi Soni</cp:lastModifiedBy>
  <cp:revision>1</cp:revision>
  <dcterms:modified xsi:type="dcterms:W3CDTF">2026-05-28T07:21:40Z</dcterms:modified>
</cp:coreProperties>
</file>